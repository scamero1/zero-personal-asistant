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ource Sans 3" panose="020B060402020202020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ora" panose="020B0604020202020204" charset="0"/>
      <p:regular r:id="rId22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19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39973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al Detalle: Constructores y Modularidad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5110996"/>
            <a:ext cx="746855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 inmersión práctica para programadores ambiciosos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6969" y="1822371"/>
            <a:ext cx="97963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Agenda del Día: ¿Qué Aprenderemos?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05138"/>
            <a:ext cx="6357818" cy="2359223"/>
          </a:xfrm>
          <a:prstGeom prst="roundRect">
            <a:avLst>
              <a:gd name="adj" fmla="val 1522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7724" y="3005138"/>
            <a:ext cx="60960" cy="2359223"/>
          </a:xfrm>
          <a:prstGeom prst="roundRect">
            <a:avLst>
              <a:gd name="adj" fmla="val 58903"/>
            </a:avLst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1168479" y="3274933"/>
            <a:ext cx="3961448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🏗️</a:t>
            </a: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Constructores (`__init__`)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8479" y="3778091"/>
            <a:ext cx="5757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Método especial para inicializar objetos.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168479" y="4244816"/>
            <a:ext cx="5757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Configuración inicial de parámetros y atributos.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168479" y="4711541"/>
            <a:ext cx="5757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Creación de objetos con valores predefinidos.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3005138"/>
            <a:ext cx="6357818" cy="2359223"/>
          </a:xfrm>
          <a:prstGeom prst="roundRect">
            <a:avLst>
              <a:gd name="adj" fmla="val 1522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4858" y="3005138"/>
            <a:ext cx="60960" cy="2359223"/>
          </a:xfrm>
          <a:prstGeom prst="roundRect">
            <a:avLst>
              <a:gd name="adj" fmla="val 58903"/>
            </a:avLst>
          </a:prstGeom>
          <a:solidFill>
            <a:srgbClr val="38512F"/>
          </a:solidFill>
          <a:ln/>
        </p:spPr>
      </p:sp>
      <p:sp>
        <p:nvSpPr>
          <p:cNvPr id="11" name="Text 9"/>
          <p:cNvSpPr/>
          <p:nvPr/>
        </p:nvSpPr>
        <p:spPr>
          <a:xfrm>
            <a:off x="7765613" y="3274933"/>
            <a:ext cx="281618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📁</a:t>
            </a: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Modularidad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65613" y="3778091"/>
            <a:ext cx="5757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Dividir el código en archivos separados.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765613" y="4244816"/>
            <a:ext cx="5757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Organización profesional y estructurada.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765613" y="4711541"/>
            <a:ext cx="5757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Importación de clases y funciones entre módulos.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5633561"/>
            <a:ext cx="12954952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🎯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Objetivo: Al final de esta clase, serás capaz de crear clases con constructores robustos y organizar tu código en módulos Python.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5290" y="343495"/>
            <a:ext cx="6179701" cy="367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Constructor Mágico de Python: `__init__`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37198" y="2389325"/>
            <a:ext cx="1469588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¿Qué es `__init__`?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6672" y="3192601"/>
            <a:ext cx="6725603" cy="399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 un </a:t>
            </a:r>
            <a:r>
              <a:rPr lang="en-US" sz="2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método especial</a:t>
            </a: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 se ejecuta </a:t>
            </a:r>
            <a:r>
              <a:rPr lang="en-US" sz="2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automáticamente</a:t>
            </a: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justo después de crear un objeto de una clase. Su misión principal es </a:t>
            </a:r>
            <a:r>
              <a:rPr lang="en-US" sz="2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inicializar</a:t>
            </a: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los atributos de ese nuevo objeto con los valores que le pases. ¡Es el "constructor" por excelencia en Python!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68124" y="5054598"/>
            <a:ext cx="6802698" cy="140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¿Por qué ese nombre?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6672" y="5456486"/>
            <a:ext cx="6725603" cy="200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`__init__` proviene de "</a:t>
            </a:r>
            <a:r>
              <a:rPr lang="en-US" sz="20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initialize</a:t>
            </a: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 (inicializar).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Los métodos con doble guion bajo (`__`) al inicio y al final son especiales en Python, a menudo llamados "métodos dunder" (de </a:t>
            </a:r>
            <a:r>
              <a:rPr lang="en-US" sz="200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double underscore</a:t>
            </a: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 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 ejecutan sin que tengas que llamarlos explícitamente, facilitando la creación de objetos listos para usar.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220" y="1038701"/>
            <a:ext cx="6725603" cy="67256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75220" y="7904798"/>
            <a:ext cx="6725603" cy="1669375"/>
          </a:xfrm>
          <a:prstGeom prst="roundRect">
            <a:avLst>
              <a:gd name="adj" fmla="val 1122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117" y="8077081"/>
            <a:ext cx="183594" cy="1469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08608" y="8060888"/>
            <a:ext cx="1469588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Sintaxis Básica: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908608" y="8384977"/>
            <a:ext cx="6167318" cy="986314"/>
          </a:xfrm>
          <a:prstGeom prst="roundRect">
            <a:avLst>
              <a:gd name="adj" fmla="val 1900"/>
            </a:avLst>
          </a:prstGeom>
          <a:solidFill>
            <a:srgbClr val="F1E8DA"/>
          </a:solidFill>
          <a:ln/>
        </p:spPr>
      </p:sp>
      <p:sp>
        <p:nvSpPr>
          <p:cNvPr id="12" name="Shape 8"/>
          <p:cNvSpPr/>
          <p:nvPr/>
        </p:nvSpPr>
        <p:spPr>
          <a:xfrm>
            <a:off x="7902416" y="8384977"/>
            <a:ext cx="6179701" cy="986314"/>
          </a:xfrm>
          <a:prstGeom prst="roundRect">
            <a:avLst>
              <a:gd name="adj" fmla="val 1900"/>
            </a:avLst>
          </a:prstGeom>
          <a:solidFill>
            <a:srgbClr val="F1E8DA"/>
          </a:solidFill>
          <a:ln/>
        </p:spPr>
      </p:sp>
      <p:sp>
        <p:nvSpPr>
          <p:cNvPr id="13" name="Text 9"/>
          <p:cNvSpPr/>
          <p:nvPr/>
        </p:nvSpPr>
        <p:spPr>
          <a:xfrm>
            <a:off x="8027313" y="8478560"/>
            <a:ext cx="5929908" cy="79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MiClase:    def __init__(self, param1, param2):        self.atributo1 = param1        self.atributo2 = param2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475220" y="9714667"/>
            <a:ext cx="6725603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🎯</a:t>
            </a: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Sin constructor: objeto vacío → </a:t>
            </a: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 constructor:</a:t>
            </a: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objeto con datos desde el inicio.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720" y="1055608"/>
            <a:ext cx="6715958" cy="671595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38167" y="349091"/>
            <a:ext cx="3953947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Anatomía de un Constructor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4341" y="1039773"/>
            <a:ext cx="149375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 Detallada: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44341" y="1369219"/>
            <a:ext cx="6715958" cy="1814274"/>
          </a:xfrm>
          <a:prstGeom prst="roundRect">
            <a:avLst>
              <a:gd name="adj" fmla="val 1050"/>
            </a:avLst>
          </a:prstGeom>
          <a:solidFill>
            <a:srgbClr val="F1E8DA"/>
          </a:solidFill>
          <a:ln/>
        </p:spPr>
      </p:sp>
      <p:sp>
        <p:nvSpPr>
          <p:cNvPr id="5" name="Shape 3"/>
          <p:cNvSpPr/>
          <p:nvPr/>
        </p:nvSpPr>
        <p:spPr>
          <a:xfrm>
            <a:off x="438031" y="1369219"/>
            <a:ext cx="6728579" cy="1814274"/>
          </a:xfrm>
          <a:prstGeom prst="roundRect">
            <a:avLst>
              <a:gd name="adj" fmla="val 1050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es-CO" dirty="0"/>
          </a:p>
        </p:txBody>
      </p:sp>
      <p:sp>
        <p:nvSpPr>
          <p:cNvPr id="6" name="Text 4"/>
          <p:cNvSpPr/>
          <p:nvPr/>
        </p:nvSpPr>
        <p:spPr>
          <a:xfrm>
            <a:off x="564951" y="1464350"/>
            <a:ext cx="7589345" cy="1624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Persona: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nombre,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↑     ↑        ↑      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|     |        └──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Parámetros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|     └── Primer parámetro (siempre `self`)        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└── Nombre del constructor (fijo)        	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dirty="0">
              <a:solidFill>
                <a:srgbClr val="3A363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	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self.nombre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 algn="l">
              <a:lnSpc>
                <a:spcPts val="1550"/>
              </a:lnSpc>
              <a:buNone/>
            </a:pPr>
            <a:endParaRPr lang="en-US" dirty="0">
              <a:solidFill>
                <a:srgbClr val="3A363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self.atributo =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parámetro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	</a:t>
            </a:r>
          </a:p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self.edad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edad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6722" y="4292334"/>
            <a:ext cx="149375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Componentes Clave: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9103" y="4668267"/>
            <a:ext cx="6715958" cy="649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r>
              <a:rPr lang="en-US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Es la referencia al propio objeto que se está creando. Es el primer parámetro en todo método de instancia y permite acceder a los atributos del objeto.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9103" y="5821571"/>
            <a:ext cx="6715958" cy="536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0"/>
              </a:lnSpc>
              <a:buSzPct val="100000"/>
              <a:buChar char="•"/>
            </a:pP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Parámetros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: 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</a:rPr>
              <a:t>Son los valores que el constructor recibe para inicializar los atributos del objeto. Pueden ser cero o </a:t>
            </a:r>
            <a:r>
              <a:rPr lang="en-US" dirty="0" err="1">
                <a:solidFill>
                  <a:srgbClr val="3A3630"/>
                </a:solidFill>
                <a:latin typeface="Source Sans 3" pitchFamily="34" charset="0"/>
              </a:rPr>
              <a:t>más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10" name="Text 8"/>
          <p:cNvSpPr/>
          <p:nvPr/>
        </p:nvSpPr>
        <p:spPr>
          <a:xfrm>
            <a:off x="429103" y="6613229"/>
            <a:ext cx="6715958" cy="77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0"/>
              </a:lnSpc>
              <a:buSzPct val="100000"/>
              <a:buChar char="•"/>
            </a:pP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self.atributo = </a:t>
            </a:r>
            <a:r>
              <a:rPr lang="en-US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parámetro</a:t>
            </a:r>
            <a:r>
              <a:rPr lang="en-US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: 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</a:rPr>
              <a:t>Esta línea es crucial. Asigna el valor recibido por el parámetro a un atributo del objeto, haciéndolo accesible para el resto de los métodos y el uso externo del </a:t>
            </a:r>
            <a:r>
              <a:rPr lang="en-US" dirty="0" err="1">
                <a:solidFill>
                  <a:srgbClr val="3A3630"/>
                </a:solidFill>
                <a:latin typeface="Source Sans 3" pitchFamily="34" charset="0"/>
              </a:rPr>
              <a:t>objeto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12" name="Text 9"/>
          <p:cNvSpPr/>
          <p:nvPr/>
        </p:nvSpPr>
        <p:spPr>
          <a:xfrm>
            <a:off x="7477720" y="7914323"/>
            <a:ext cx="1493758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¿Cuándo se ejecuta?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477720" y="8227933"/>
            <a:ext cx="671595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magia ocurre cuando </a:t>
            </a:r>
            <a:r>
              <a:rPr lang="en-US" sz="9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instancias</a:t>
            </a: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clase. En ese momento, Python llama a `__init__` automáticamente: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77720" y="8573691"/>
            <a:ext cx="6715958" cy="596265"/>
          </a:xfrm>
          <a:prstGeom prst="roundRect">
            <a:avLst>
              <a:gd name="adj" fmla="val 3194"/>
            </a:avLst>
          </a:prstGeom>
          <a:solidFill>
            <a:srgbClr val="F1E8DA"/>
          </a:solidFill>
          <a:ln/>
        </p:spPr>
      </p:sp>
      <p:sp>
        <p:nvSpPr>
          <p:cNvPr id="15" name="Shape 12"/>
          <p:cNvSpPr/>
          <p:nvPr/>
        </p:nvSpPr>
        <p:spPr>
          <a:xfrm>
            <a:off x="7471410" y="8573691"/>
            <a:ext cx="6728579" cy="596265"/>
          </a:xfrm>
          <a:prstGeom prst="roundRect">
            <a:avLst>
              <a:gd name="adj" fmla="val 3194"/>
            </a:avLst>
          </a:prstGeom>
          <a:solidFill>
            <a:srgbClr val="F1E8DA"/>
          </a:solidFill>
          <a:ln/>
        </p:spPr>
      </p:sp>
      <p:sp>
        <p:nvSpPr>
          <p:cNvPr id="16" name="Text 13"/>
          <p:cNvSpPr/>
          <p:nvPr/>
        </p:nvSpPr>
        <p:spPr>
          <a:xfrm>
            <a:off x="7598331" y="8668822"/>
            <a:ext cx="6474738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→ ¡Aquí se ejecuta __init__!persona = Persona("Ana", 25) 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77720" y="9312712"/>
            <a:ext cx="671595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necesitas llamarlo directamente como `Persona.__init__(...)`; el intérprete se encarga de ello.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2686" y="508516"/>
            <a:ext cx="5944910" cy="547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r>
              <a:rPr lang="en-US" sz="3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Problemas sin Constructor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32936" y="1507569"/>
            <a:ext cx="3708559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Clase Sin Constructor (Problemático):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32936" y="1976795"/>
            <a:ext cx="7842171" cy="3684032"/>
          </a:xfrm>
          <a:prstGeom prst="roundRect">
            <a:avLst>
              <a:gd name="adj" fmla="val 736"/>
            </a:avLst>
          </a:prstGeom>
          <a:solidFill>
            <a:srgbClr val="FFB3B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73" y="2242542"/>
            <a:ext cx="225981" cy="1807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20391" y="2202656"/>
            <a:ext cx="7073979" cy="3164443"/>
          </a:xfrm>
          <a:prstGeom prst="roundRect">
            <a:avLst>
              <a:gd name="adj" fmla="val 857"/>
            </a:avLst>
          </a:prstGeom>
          <a:solidFill>
            <a:srgbClr val="F1E8DA"/>
          </a:solidFill>
          <a:ln/>
        </p:spPr>
      </p:sp>
      <p:sp>
        <p:nvSpPr>
          <p:cNvPr id="7" name="Shape 4"/>
          <p:cNvSpPr/>
          <p:nvPr/>
        </p:nvSpPr>
        <p:spPr>
          <a:xfrm>
            <a:off x="1211461" y="2094595"/>
            <a:ext cx="7091839" cy="3380563"/>
          </a:xfrm>
          <a:prstGeom prst="roundRect">
            <a:avLst>
              <a:gd name="adj" fmla="val 857"/>
            </a:avLst>
          </a:prstGeom>
          <a:solidFill>
            <a:srgbClr val="F1E8DA"/>
          </a:solidFill>
          <a:ln/>
        </p:spPr>
      </p:sp>
      <p:sp>
        <p:nvSpPr>
          <p:cNvPr id="8" name="Text 5"/>
          <p:cNvSpPr/>
          <p:nvPr/>
        </p:nvSpPr>
        <p:spPr>
          <a:xfrm>
            <a:off x="1392198" y="2217272"/>
            <a:ext cx="6730365" cy="2893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Estudiante:   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vacía</a:t>
            </a:r>
            <a:endParaRPr lang="en-US" sz="1400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Crear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objeto</a:t>
            </a:r>
            <a:endParaRPr lang="en-US" sz="1400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Tenemos que asignar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todo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manualmente</a:t>
            </a:r>
            <a:endParaRPr lang="en-US" sz="1400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est.nombre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"Pedro“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est.edad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20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est.carrera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“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est.notas</a:t>
            </a: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[]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¡Mucho trabajo y fácil de olvidar!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2936" y="5864185"/>
            <a:ext cx="2545794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Consecuencias Negativas: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32936" y="6310789"/>
            <a:ext cx="784217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😵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Repetición de código: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cada objeto requiere las mismas líneas de asignación.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2936" y="6663333"/>
            <a:ext cx="784217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🚨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Fácil de olvidar atributos: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 pequeño descuido y el objeto no estará completo.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2936" y="7015877"/>
            <a:ext cx="784217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🐛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Errores por no inicialización: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intentar usar un atributo no asignado causará un error.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2936" y="7368421"/>
            <a:ext cx="784217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📝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Código desorganizado:</a:t>
            </a: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 lógica de inicialización se dispersa y complica la lectura.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973" y="1530191"/>
            <a:ext cx="5080992" cy="5080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3613" y="564594"/>
            <a:ext cx="6343174" cy="47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2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2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Solución: Clases con Constructor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56617" y="1437323"/>
            <a:ext cx="3390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Clase con Constructor (Recomendado):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56617" y="1850112"/>
            <a:ext cx="7955042" cy="4002881"/>
          </a:xfrm>
          <a:prstGeom prst="roundRect">
            <a:avLst>
              <a:gd name="adj" fmla="val 596"/>
            </a:avLst>
          </a:prstGeom>
          <a:solidFill>
            <a:srgbClr val="B6FC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6" y="2084784"/>
            <a:ext cx="198715" cy="1589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3229" y="2048708"/>
            <a:ext cx="7279481" cy="3546038"/>
          </a:xfrm>
          <a:prstGeom prst="roundRect">
            <a:avLst>
              <a:gd name="adj" fmla="val 673"/>
            </a:avLst>
          </a:prstGeom>
          <a:solidFill>
            <a:srgbClr val="F1E8DA"/>
          </a:solidFill>
          <a:ln/>
        </p:spPr>
      </p:sp>
      <p:sp>
        <p:nvSpPr>
          <p:cNvPr id="7" name="Shape 4"/>
          <p:cNvSpPr/>
          <p:nvPr/>
        </p:nvSpPr>
        <p:spPr>
          <a:xfrm>
            <a:off x="1065371" y="2048708"/>
            <a:ext cx="7295198" cy="3546038"/>
          </a:xfrm>
          <a:prstGeom prst="roundRect">
            <a:avLst>
              <a:gd name="adj" fmla="val 673"/>
            </a:avLst>
          </a:prstGeom>
          <a:solidFill>
            <a:srgbClr val="F1E8DA"/>
          </a:solidFill>
          <a:ln/>
        </p:spPr>
      </p:sp>
      <p:sp>
        <p:nvSpPr>
          <p:cNvPr id="8" name="Text 5"/>
          <p:cNvSpPr/>
          <p:nvPr/>
        </p:nvSpPr>
        <p:spPr>
          <a:xfrm>
            <a:off x="1224320" y="2167890"/>
            <a:ext cx="6977301" cy="330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Estudiante: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__init__(self, nombre, edad,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carrera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self.nombre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250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self.edad =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self.carrera =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carrera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self.notas = [] 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250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Se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inicializa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automáticamente</a:t>
            </a:r>
            <a:endParaRPr lang="en-US" sz="1250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objeto es más simple y Seguro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est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= Estudiante("Pedro", 20, "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print(est.nombre)  # "Pedro“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print(est.carrera) # "</a:t>
            </a:r>
            <a:r>
              <a:rPr lang="en-US" sz="1250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Ingeniería</a:t>
            </a: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“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print(est.notas)   # []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6617" y="6031825"/>
            <a:ext cx="187106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Ventajas Irrefutables: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6617" y="6424732"/>
            <a:ext cx="795504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Simplicidad: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Una sola línea para crear objetos completos y listos para usar.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6617" y="6734770"/>
            <a:ext cx="795504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Robustez: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Garantiza que todos los atributos esenciales existan desde el momento de la creación.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6617" y="7044809"/>
            <a:ext cx="795504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Claridad: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El código es más legible y expresa mejor la intención de la clase.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6617" y="7354848"/>
            <a:ext cx="795504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Menos Errores:</a:t>
            </a:r>
            <a:r>
              <a:rPr lang="en-US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Reduce drásticamente la posibilidad de errores por atributos no inicializados o mal asignados.</a:t>
            </a: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185" y="1457206"/>
            <a:ext cx="5174099" cy="5174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6608" y="592812"/>
            <a:ext cx="9857184" cy="634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3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Modularidad: El Arte de Organizar Código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54499" y="1981438"/>
            <a:ext cx="6452949" cy="2265878"/>
          </a:xfrm>
          <a:prstGeom prst="roundRect">
            <a:avLst>
              <a:gd name="adj" fmla="val 6457"/>
            </a:avLst>
          </a:prstGeom>
          <a:solidFill>
            <a:srgbClr val="FEF5E7"/>
          </a:solidFill>
          <a:ln/>
        </p:spPr>
      </p:sp>
      <p:sp>
        <p:nvSpPr>
          <p:cNvPr id="4" name="Shape 2"/>
          <p:cNvSpPr/>
          <p:nvPr/>
        </p:nvSpPr>
        <p:spPr>
          <a:xfrm>
            <a:off x="754499" y="1950958"/>
            <a:ext cx="6452949" cy="121920"/>
          </a:xfrm>
          <a:prstGeom prst="roundRect">
            <a:avLst>
              <a:gd name="adj" fmla="val 26525"/>
            </a:avLst>
          </a:prstGeom>
          <a:solidFill>
            <a:srgbClr val="38512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658064"/>
            <a:ext cx="646748" cy="646748"/>
          </a:xfrm>
          <a:prstGeom prst="roundRect">
            <a:avLst>
              <a:gd name="adj" fmla="val 141384"/>
            </a:avLst>
          </a:prstGeom>
          <a:solidFill>
            <a:srgbClr val="38512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672" y="1819751"/>
            <a:ext cx="258604" cy="323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482" y="2520315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Concepto: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00482" y="2966561"/>
            <a:ext cx="5960983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Dividir un programa grande en </a:t>
            </a: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archivos separados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(módulos). Cada módulo tiene una </a:t>
            </a: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responsabilidad específica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lo que fomenta una </a:t>
            </a: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organización profesional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 código.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22952" y="1981438"/>
            <a:ext cx="6452949" cy="2265878"/>
          </a:xfrm>
          <a:prstGeom prst="roundRect">
            <a:avLst>
              <a:gd name="adj" fmla="val 6457"/>
            </a:avLst>
          </a:prstGeom>
          <a:solidFill>
            <a:srgbClr val="FEF5E7"/>
          </a:solidFill>
          <a:ln/>
        </p:spPr>
      </p:sp>
      <p:sp>
        <p:nvSpPr>
          <p:cNvPr id="10" name="Shape 7"/>
          <p:cNvSpPr/>
          <p:nvPr/>
        </p:nvSpPr>
        <p:spPr>
          <a:xfrm>
            <a:off x="7422952" y="1950958"/>
            <a:ext cx="6452949" cy="121920"/>
          </a:xfrm>
          <a:prstGeom prst="roundRect">
            <a:avLst>
              <a:gd name="adj" fmla="val 26525"/>
            </a:avLst>
          </a:prstGeom>
          <a:solidFill>
            <a:srgbClr val="38512F"/>
          </a:solidFill>
          <a:ln/>
        </p:spPr>
      </p:sp>
      <p:sp>
        <p:nvSpPr>
          <p:cNvPr id="11" name="Shape 8"/>
          <p:cNvSpPr/>
          <p:nvPr/>
        </p:nvSpPr>
        <p:spPr>
          <a:xfrm>
            <a:off x="10326052" y="1658064"/>
            <a:ext cx="646748" cy="646748"/>
          </a:xfrm>
          <a:prstGeom prst="roundRect">
            <a:avLst>
              <a:gd name="adj" fmla="val 141384"/>
            </a:avLst>
          </a:prstGeom>
          <a:solidFill>
            <a:srgbClr val="38512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0124" y="1819751"/>
            <a:ext cx="258604" cy="323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68935" y="2520315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Colaboración: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7668935" y="2966561"/>
            <a:ext cx="5960983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Facilita que </a:t>
            </a: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varios programadores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trabajen en el mismo proyecto sin conflictos. Cada uno se enfoca en su propio módulo, mejorando la eficiencia del equipo.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754499" y="4786193"/>
            <a:ext cx="6452949" cy="2265878"/>
          </a:xfrm>
          <a:prstGeom prst="roundRect">
            <a:avLst>
              <a:gd name="adj" fmla="val 6457"/>
            </a:avLst>
          </a:prstGeom>
          <a:solidFill>
            <a:srgbClr val="FEF5E7"/>
          </a:solidFill>
          <a:ln/>
        </p:spPr>
      </p:sp>
      <p:sp>
        <p:nvSpPr>
          <p:cNvPr id="16" name="Shape 12"/>
          <p:cNvSpPr/>
          <p:nvPr/>
        </p:nvSpPr>
        <p:spPr>
          <a:xfrm>
            <a:off x="754499" y="4755713"/>
            <a:ext cx="6452949" cy="121920"/>
          </a:xfrm>
          <a:prstGeom prst="roundRect">
            <a:avLst>
              <a:gd name="adj" fmla="val 26525"/>
            </a:avLst>
          </a:prstGeom>
          <a:solidFill>
            <a:srgbClr val="38512F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600" y="4462820"/>
            <a:ext cx="646748" cy="646748"/>
          </a:xfrm>
          <a:prstGeom prst="roundRect">
            <a:avLst>
              <a:gd name="adj" fmla="val 141384"/>
            </a:avLst>
          </a:prstGeom>
          <a:solidFill>
            <a:srgbClr val="38512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672" y="4624507"/>
            <a:ext cx="258604" cy="323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0482" y="5325070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Reutilización: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1000482" y="5771317"/>
            <a:ext cx="5960983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 módulo bien diseñado se puede </a:t>
            </a: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usar en múltiples programas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evitando la duplicidad de código y acelerando el desarrollo de nuevos proyectos.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7422952" y="4786193"/>
            <a:ext cx="6452949" cy="2265878"/>
          </a:xfrm>
          <a:prstGeom prst="roundRect">
            <a:avLst>
              <a:gd name="adj" fmla="val 6457"/>
            </a:avLst>
          </a:prstGeom>
          <a:solidFill>
            <a:srgbClr val="FEF5E7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2952" y="4755713"/>
            <a:ext cx="6452949" cy="121920"/>
          </a:xfrm>
          <a:prstGeom prst="roundRect">
            <a:avLst>
              <a:gd name="adj" fmla="val 26525"/>
            </a:avLst>
          </a:prstGeom>
          <a:solidFill>
            <a:srgbClr val="38512F"/>
          </a:solidFill>
          <a:ln/>
        </p:spPr>
      </p:sp>
      <p:sp>
        <p:nvSpPr>
          <p:cNvPr id="23" name="Shape 18"/>
          <p:cNvSpPr/>
          <p:nvPr/>
        </p:nvSpPr>
        <p:spPr>
          <a:xfrm>
            <a:off x="10326052" y="4462820"/>
            <a:ext cx="646748" cy="646748"/>
          </a:xfrm>
          <a:prstGeom prst="roundRect">
            <a:avLst>
              <a:gd name="adj" fmla="val 141384"/>
            </a:avLst>
          </a:prstGeom>
          <a:solidFill>
            <a:srgbClr val="38512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0124" y="4624507"/>
            <a:ext cx="258604" cy="323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68935" y="5325070"/>
            <a:ext cx="2536269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Depuración:</a:t>
            </a:r>
            <a:endParaRPr lang="en-US" sz="1950" dirty="0"/>
          </a:p>
        </p:txBody>
      </p:sp>
      <p:sp>
        <p:nvSpPr>
          <p:cNvPr id="26" name="Text 20"/>
          <p:cNvSpPr/>
          <p:nvPr/>
        </p:nvSpPr>
        <p:spPr>
          <a:xfrm>
            <a:off x="7668935" y="5771317"/>
            <a:ext cx="5960983" cy="103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 tener responsabilidades claras, los </a:t>
            </a: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errores son más fáciles de encontrar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corregir, ya que los cambios están localizados en módulos específicos.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754499" y="7294602"/>
            <a:ext cx="13121402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qué usar modularidad:</a:t>
            </a:r>
            <a:r>
              <a:rPr lang="en-US" sz="1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Mejora la organización, colaboración, reutilización y facilita la depuración.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271" y="1202769"/>
            <a:ext cx="6632496" cy="663249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078010" y="397788"/>
            <a:ext cx="6474262" cy="42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 Modular en Proyectos Python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06254" y="1184791"/>
            <a:ext cx="170187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Organización Típica: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6254" y="1560076"/>
            <a:ext cx="6632496" cy="2021324"/>
          </a:xfrm>
          <a:prstGeom prst="roundRect">
            <a:avLst>
              <a:gd name="adj" fmla="val 1074"/>
            </a:avLst>
          </a:prstGeom>
          <a:solidFill>
            <a:srgbClr val="D4E3C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15" y="1766530"/>
            <a:ext cx="180737" cy="1446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76312" y="1740813"/>
            <a:ext cx="6017776" cy="1605677"/>
          </a:xfrm>
          <a:prstGeom prst="roundRect">
            <a:avLst>
              <a:gd name="adj" fmla="val 1351"/>
            </a:avLst>
          </a:prstGeom>
          <a:solidFill>
            <a:srgbClr val="F1E8DA"/>
          </a:solidFill>
          <a:ln/>
        </p:spPr>
      </p:sp>
      <p:sp>
        <p:nvSpPr>
          <p:cNvPr id="7" name="Shape 4"/>
          <p:cNvSpPr/>
          <p:nvPr/>
        </p:nvSpPr>
        <p:spPr>
          <a:xfrm>
            <a:off x="969169" y="1740813"/>
            <a:ext cx="6032063" cy="1605677"/>
          </a:xfrm>
          <a:prstGeom prst="roundRect">
            <a:avLst>
              <a:gd name="adj" fmla="val 1351"/>
            </a:avLst>
          </a:prstGeom>
          <a:solidFill>
            <a:srgbClr val="F1E8DA"/>
          </a:solidFill>
          <a:ln/>
        </p:spPr>
      </p:sp>
      <p:sp>
        <p:nvSpPr>
          <p:cNvPr id="8" name="Text 5"/>
          <p:cNvSpPr/>
          <p:nvPr/>
        </p:nvSpPr>
        <p:spPr>
          <a:xfrm>
            <a:off x="1113829" y="1849279"/>
            <a:ext cx="6385441" cy="1388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mi_Proyecto</a:t>
            </a:r>
            <a:endParaRPr lang="en-US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← </a:t>
            </a:r>
            <a:r>
              <a:rPr lang="en-US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Programa</a:t>
            </a: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principal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clases.py      ← Definiciones de </a:t>
            </a:r>
            <a:r>
              <a:rPr lang="en-US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clases</a:t>
            </a:r>
            <a:endParaRPr lang="en-US" dirty="0">
              <a:solidFill>
                <a:srgbClr val="000000"/>
              </a:solidFill>
              <a:highlight>
                <a:srgbClr val="F1E8DA"/>
              </a:highligh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utilidades.py  ← </a:t>
            </a:r>
            <a:r>
              <a:rPr lang="en-US" dirty="0" err="1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Funciones</a:t>
            </a: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auxiliaries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config.py      ← Constantes de configuración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6254" y="3744039"/>
            <a:ext cx="2822734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Principio de Responsabilidad Única: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5496" y="4101345"/>
            <a:ext cx="6808946" cy="54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main.py: 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Contiene la lógica principal del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programa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,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orquestando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 las </a:t>
            </a:r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llamadas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 a las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demás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partes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11" name="Text 8"/>
          <p:cNvSpPr/>
          <p:nvPr/>
        </p:nvSpPr>
        <p:spPr>
          <a:xfrm>
            <a:off x="498633" y="4957233"/>
            <a:ext cx="6632496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clases.py</a:t>
            </a: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Agrupa todas las definiciones de clases que usa tu aplicación, como `Persona`, `Estudiante`, etc.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6254" y="5756670"/>
            <a:ext cx="6632496" cy="528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utilidades.py: 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Módulos para funciones de apoyo genéricas que no pertenecen a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ninguna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clase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específica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13" name="Text 10"/>
          <p:cNvSpPr/>
          <p:nvPr/>
        </p:nvSpPr>
        <p:spPr>
          <a:xfrm>
            <a:off x="506254" y="6470312"/>
            <a:ext cx="6632496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</a:rPr>
              <a:t>config.py: 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Almacena constantes, credenciales o ajustes que pueden variar sin modificar la </a:t>
            </a:r>
            <a:r>
              <a:rPr lang="en-US" sz="1600" dirty="0" err="1">
                <a:solidFill>
                  <a:srgbClr val="3A3630"/>
                </a:solidFill>
                <a:latin typeface="Source Sans 3" pitchFamily="34" charset="0"/>
              </a:rPr>
              <a:t>lógica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</a:rPr>
              <a:t> principal.</a:t>
            </a:r>
          </a:p>
        </p:txBody>
      </p:sp>
      <p:sp>
        <p:nvSpPr>
          <p:cNvPr id="15" name="Text 11"/>
          <p:cNvSpPr/>
          <p:nvPr/>
        </p:nvSpPr>
        <p:spPr>
          <a:xfrm>
            <a:off x="7499271" y="7997904"/>
            <a:ext cx="1701879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Analogía Musical: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99271" y="8355211"/>
            <a:ext cx="6632496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Director de orquesta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99271" y="8652510"/>
            <a:ext cx="6632496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clases.py</a:t>
            </a: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Partituras de instrumentos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499271" y="8949809"/>
            <a:ext cx="6632496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utilidades.py</a:t>
            </a: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Herramientas del músico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499271" y="9247108"/>
            <a:ext cx="6632496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Instrucciones del concierto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7489" y="1407557"/>
            <a:ext cx="909530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Importando Clases en tus Módulos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90324"/>
            <a:ext cx="12954952" cy="3571875"/>
          </a:xfrm>
          <a:prstGeom prst="roundRect">
            <a:avLst>
              <a:gd name="adj" fmla="val 1005"/>
            </a:avLst>
          </a:prstGeom>
          <a:solidFill>
            <a:srgbClr val="F3E7D4"/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590324"/>
            <a:ext cx="6477476" cy="1785938"/>
          </a:xfrm>
          <a:prstGeom prst="roundRect">
            <a:avLst>
              <a:gd name="adj" fmla="val 2011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1077039" y="282963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Clase Específica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7039" y="3325178"/>
            <a:ext cx="5639753" cy="81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clases import CuentaBancariacuenta = CuentaBancaria("Ana", 500)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315200" y="2590324"/>
            <a:ext cx="6477476" cy="17859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590324"/>
            <a:ext cx="30480" cy="1785938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9" name="Text 7"/>
          <p:cNvSpPr/>
          <p:nvPr/>
        </p:nvSpPr>
        <p:spPr>
          <a:xfrm>
            <a:off x="7913608" y="282963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Múltiples Clases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13608" y="3325178"/>
            <a:ext cx="5639753" cy="81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clases import CuentaBancaria, Personacuenta = CuentaBancaria("Luis", 1000)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015996" y="3184088"/>
            <a:ext cx="598408" cy="598408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538" y="3296245"/>
            <a:ext cx="299204" cy="37397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37724" y="4376261"/>
            <a:ext cx="6477476" cy="17859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4" name="Shape 11"/>
          <p:cNvSpPr/>
          <p:nvPr/>
        </p:nvSpPr>
        <p:spPr>
          <a:xfrm>
            <a:off x="837724" y="4376261"/>
            <a:ext cx="647747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5" name="Text 12"/>
          <p:cNvSpPr/>
          <p:nvPr/>
        </p:nvSpPr>
        <p:spPr>
          <a:xfrm>
            <a:off x="1077039" y="46155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Todo el Módulo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77039" y="5111115"/>
            <a:ext cx="5639753" cy="81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clasescuenta = clases.CuentaBancaria("Pedro", 800)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7315200" y="4376261"/>
            <a:ext cx="6477476" cy="1785938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0" y="4376261"/>
            <a:ext cx="30480" cy="1785938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4376261"/>
            <a:ext cx="6477476" cy="30480"/>
          </a:xfrm>
          <a:prstGeom prst="roundRect">
            <a:avLst>
              <a:gd name="adj" fmla="val 117806"/>
            </a:avLst>
          </a:prstGeom>
          <a:solidFill>
            <a:srgbClr val="D9CDBA"/>
          </a:solidFill>
          <a:ln/>
        </p:spPr>
      </p:sp>
      <p:sp>
        <p:nvSpPr>
          <p:cNvPr id="20" name="Text 17"/>
          <p:cNvSpPr/>
          <p:nvPr/>
        </p:nvSpPr>
        <p:spPr>
          <a:xfrm>
            <a:off x="7913608" y="46155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Con Alias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913608" y="5111115"/>
            <a:ext cx="5639753" cy="811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clases import CuentaBancaria as CBmi_cuenta = CB("Ana", 600)</a:t>
            </a:r>
            <a:endParaRPr lang="en-US" sz="1850" dirty="0"/>
          </a:p>
        </p:txBody>
      </p:sp>
      <p:sp>
        <p:nvSpPr>
          <p:cNvPr id="22" name="Shape 19"/>
          <p:cNvSpPr/>
          <p:nvPr/>
        </p:nvSpPr>
        <p:spPr>
          <a:xfrm>
            <a:off x="7015996" y="4970026"/>
            <a:ext cx="598408" cy="598408"/>
          </a:xfrm>
          <a:prstGeom prst="roundRect">
            <a:avLst>
              <a:gd name="adj" fmla="val 6000"/>
            </a:avLst>
          </a:prstGeom>
          <a:solidFill>
            <a:srgbClr val="FEF5E7"/>
          </a:solidFill>
          <a:ln w="30480">
            <a:solidFill>
              <a:srgbClr val="D9CDBA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538" y="5082183"/>
            <a:ext cx="299204" cy="37397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37724" y="6431399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Recomendación: Para mayor claridad y evitar posibles conflictos de nombres, es preferible usar las formas </a:t>
            </a:r>
            <a:r>
              <a:rPr lang="en-US" sz="18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o 2</a:t>
            </a: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31794" y="417076"/>
            <a:ext cx="4966811" cy="44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Taller Práctico: Crea tu Avatar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781" y="1242179"/>
            <a:ext cx="1784509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🎲</a:t>
            </a:r>
            <a:r>
              <a:rPr lang="en-US" sz="1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Instrucciones: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0781" y="1624370"/>
            <a:ext cx="6599396" cy="485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Vamos a crear una </a:t>
            </a: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clase `Personaje`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un videojuego simple, aplicando lo aprendido sobre constructores y modularidad.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0781" y="2246114"/>
            <a:ext cx="6599396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Objetivo: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Implementar la clase `Personaje` con sus atributos y métodos.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781" y="2541746"/>
            <a:ext cx="6599396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Atributos: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`nombre`, `nivel` (valor por defecto 1), `energia` (valor por defecto 100).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781" y="2837378"/>
            <a:ext cx="6599396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Métodos: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781" y="3133011"/>
            <a:ext cx="6599396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`atacar()`: reduce energía en 10, muestra mensaje.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781" y="3428643"/>
            <a:ext cx="6599396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`descansar()`: restaura energía a 100, muestra mensaje.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781" y="3724275"/>
            <a:ext cx="6599396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`mostrar_estado()`: imprime nombre, nivel y energía.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781" y="4019907"/>
            <a:ext cx="6599396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🏆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BONUS: Añade un método `subir_nivel()` que incremente el nivel en 1.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07843" y="1242179"/>
            <a:ext cx="1861185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📋</a:t>
            </a:r>
            <a:r>
              <a:rPr lang="en-US" sz="1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Plantilla de Código: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07843" y="1643420"/>
            <a:ext cx="6599396" cy="6001464"/>
          </a:xfrm>
          <a:prstGeom prst="roundRect">
            <a:avLst>
              <a:gd name="adj" fmla="val 379"/>
            </a:avLst>
          </a:prstGeom>
          <a:solidFill>
            <a:srgbClr val="D9D9D9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410" y="1860233"/>
            <a:ext cx="189548" cy="151567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000524" y="1832848"/>
            <a:ext cx="5955149" cy="5565696"/>
          </a:xfrm>
          <a:prstGeom prst="roundRect">
            <a:avLst>
              <a:gd name="adj" fmla="val 409"/>
            </a:avLst>
          </a:prstGeom>
          <a:solidFill>
            <a:srgbClr val="F1E8DA"/>
          </a:solidFill>
          <a:ln/>
        </p:spPr>
      </p:sp>
      <p:sp>
        <p:nvSpPr>
          <p:cNvPr id="16" name="Shape 13"/>
          <p:cNvSpPr/>
          <p:nvPr/>
        </p:nvSpPr>
        <p:spPr>
          <a:xfrm>
            <a:off x="7993023" y="1832848"/>
            <a:ext cx="5970151" cy="5565696"/>
          </a:xfrm>
          <a:prstGeom prst="roundRect">
            <a:avLst>
              <a:gd name="adj" fmla="val 409"/>
            </a:avLst>
          </a:prstGeom>
          <a:solidFill>
            <a:srgbClr val="F1E8DA"/>
          </a:solidFill>
          <a:ln/>
        </p:spPr>
      </p:sp>
      <p:sp>
        <p:nvSpPr>
          <p:cNvPr id="17" name="Text 14"/>
          <p:cNvSpPr/>
          <p:nvPr/>
        </p:nvSpPr>
        <p:spPr>
          <a:xfrm>
            <a:off x="8144589" y="1946553"/>
            <a:ext cx="5667018" cy="5338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Personaje: def __init__(self, nombre, nivel=1, energia=100): # TODO: Inicializar atributos pass def atacar(self): # TODO: Reducir energía en 10 # TODO: Mostrar mensaje de ataque pass def descansar(self): # TODO: Restaurar energía a 100 # TODO: Mostrar mensaje de descanso pass def mostrar_estado(self): # TODO: Mostrar información del personaje pass# Crea tu personaje aquí para probarlomi_avatar = Personaje("TuNombre", 5, 80)# ¡Prueba sus métodos aquí!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10063</TotalTime>
  <Words>1325</Words>
  <Application>Microsoft Office PowerPoint</Application>
  <PresentationFormat>Custom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Source Sans 3</vt:lpstr>
      <vt:lpstr>Consolas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word2</cp:lastModifiedBy>
  <cp:revision>6</cp:revision>
  <dcterms:created xsi:type="dcterms:W3CDTF">2025-08-27T15:03:20Z</dcterms:created>
  <dcterms:modified xsi:type="dcterms:W3CDTF">2025-09-24T14:16:21Z</dcterms:modified>
</cp:coreProperties>
</file>