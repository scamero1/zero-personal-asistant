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DB267E-D43F-451A-801A-2A5B2638C480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A76222-9ABE-487D-93BC-E40A8F2DBE85}">
      <dgm:prSet/>
      <dgm:spPr/>
      <dgm:t>
        <a:bodyPr/>
        <a:lstStyle/>
        <a:p>
          <a:r>
            <a:rPr lang="en-US"/>
            <a:t>Significa 'muchas formas'.</a:t>
          </a:r>
        </a:p>
      </dgm:t>
    </dgm:pt>
    <dgm:pt modelId="{A1E244B2-42C3-40E4-916D-633F1707762A}" type="parTrans" cxnId="{DB703E32-B797-4638-AA7F-F5018E1E6CA6}">
      <dgm:prSet/>
      <dgm:spPr/>
      <dgm:t>
        <a:bodyPr/>
        <a:lstStyle/>
        <a:p>
          <a:endParaRPr lang="en-US"/>
        </a:p>
      </dgm:t>
    </dgm:pt>
    <dgm:pt modelId="{047C3D70-2D7B-4A40-BF0D-CBE375D919F8}" type="sibTrans" cxnId="{DB703E32-B797-4638-AA7F-F5018E1E6CA6}">
      <dgm:prSet/>
      <dgm:spPr/>
      <dgm:t>
        <a:bodyPr/>
        <a:lstStyle/>
        <a:p>
          <a:endParaRPr lang="en-US"/>
        </a:p>
      </dgm:t>
    </dgm:pt>
    <dgm:pt modelId="{FC59D5D2-1E99-4852-B651-9CA529BD26D2}">
      <dgm:prSet/>
      <dgm:spPr/>
      <dgm:t>
        <a:bodyPr/>
        <a:lstStyle/>
        <a:p>
          <a:r>
            <a:rPr lang="en-US"/>
            <a:t>Permite que diferentes clases respondan al mismo método de manera distinta.</a:t>
          </a:r>
        </a:p>
      </dgm:t>
    </dgm:pt>
    <dgm:pt modelId="{2376E3C2-3204-400F-9572-E3BD1233573C}" type="parTrans" cxnId="{6FB55AA4-C016-42D4-A776-32646115BBEA}">
      <dgm:prSet/>
      <dgm:spPr/>
      <dgm:t>
        <a:bodyPr/>
        <a:lstStyle/>
        <a:p>
          <a:endParaRPr lang="en-US"/>
        </a:p>
      </dgm:t>
    </dgm:pt>
    <dgm:pt modelId="{CE23E76C-B8F4-4961-AED2-2C3B7333DE20}" type="sibTrans" cxnId="{6FB55AA4-C016-42D4-A776-32646115BBEA}">
      <dgm:prSet/>
      <dgm:spPr/>
      <dgm:t>
        <a:bodyPr/>
        <a:lstStyle/>
        <a:p>
          <a:endParaRPr lang="en-US"/>
        </a:p>
      </dgm:t>
    </dgm:pt>
    <dgm:pt modelId="{9EE7E214-8855-463E-B65C-8475BFCB14AC}">
      <dgm:prSet/>
      <dgm:spPr/>
      <dgm:t>
        <a:bodyPr/>
        <a:lstStyle/>
        <a:p>
          <a:r>
            <a:rPr lang="en-US"/>
            <a:t>Hace el código más flexible y reutilizable.</a:t>
          </a:r>
        </a:p>
      </dgm:t>
    </dgm:pt>
    <dgm:pt modelId="{F7532125-8CA0-4F3F-9F2F-CE05252A54B7}" type="parTrans" cxnId="{F75E5950-F153-4FB7-9336-AB609368D7DB}">
      <dgm:prSet/>
      <dgm:spPr/>
      <dgm:t>
        <a:bodyPr/>
        <a:lstStyle/>
        <a:p>
          <a:endParaRPr lang="en-US"/>
        </a:p>
      </dgm:t>
    </dgm:pt>
    <dgm:pt modelId="{1397009A-86B4-47D3-B488-D6C1CF58F6BD}" type="sibTrans" cxnId="{F75E5950-F153-4FB7-9336-AB609368D7DB}">
      <dgm:prSet/>
      <dgm:spPr/>
      <dgm:t>
        <a:bodyPr/>
        <a:lstStyle/>
        <a:p>
          <a:endParaRPr lang="en-US"/>
        </a:p>
      </dgm:t>
    </dgm:pt>
    <dgm:pt modelId="{33BC3BAA-7836-4857-833E-A1472FE0E975}" type="pres">
      <dgm:prSet presAssocID="{E8DB267E-D43F-451A-801A-2A5B2638C480}" presName="Name0" presStyleCnt="0">
        <dgm:presLayoutVars>
          <dgm:dir/>
          <dgm:animLvl val="lvl"/>
          <dgm:resizeHandles val="exact"/>
        </dgm:presLayoutVars>
      </dgm:prSet>
      <dgm:spPr/>
    </dgm:pt>
    <dgm:pt modelId="{3C661997-A3BD-4679-9537-ADBB035B3F91}" type="pres">
      <dgm:prSet presAssocID="{9EE7E214-8855-463E-B65C-8475BFCB14AC}" presName="boxAndChildren" presStyleCnt="0"/>
      <dgm:spPr/>
    </dgm:pt>
    <dgm:pt modelId="{3EA617FC-6B7D-4089-92EB-4925E2E7CB08}" type="pres">
      <dgm:prSet presAssocID="{9EE7E214-8855-463E-B65C-8475BFCB14AC}" presName="parentTextBox" presStyleLbl="node1" presStyleIdx="0" presStyleCnt="3"/>
      <dgm:spPr/>
    </dgm:pt>
    <dgm:pt modelId="{FEEBD1D4-5085-4D65-A524-DFF33B083543}" type="pres">
      <dgm:prSet presAssocID="{CE23E76C-B8F4-4961-AED2-2C3B7333DE20}" presName="sp" presStyleCnt="0"/>
      <dgm:spPr/>
    </dgm:pt>
    <dgm:pt modelId="{2ABA19EE-7551-4AA4-B5A3-249B93DFE5E7}" type="pres">
      <dgm:prSet presAssocID="{FC59D5D2-1E99-4852-B651-9CA529BD26D2}" presName="arrowAndChildren" presStyleCnt="0"/>
      <dgm:spPr/>
    </dgm:pt>
    <dgm:pt modelId="{1343666C-9625-412A-B33B-D232C41F7AE6}" type="pres">
      <dgm:prSet presAssocID="{FC59D5D2-1E99-4852-B651-9CA529BD26D2}" presName="parentTextArrow" presStyleLbl="node1" presStyleIdx="1" presStyleCnt="3"/>
      <dgm:spPr/>
    </dgm:pt>
    <dgm:pt modelId="{16163B67-E4CA-4095-86DB-369F2DCC6A9F}" type="pres">
      <dgm:prSet presAssocID="{047C3D70-2D7B-4A40-BF0D-CBE375D919F8}" presName="sp" presStyleCnt="0"/>
      <dgm:spPr/>
    </dgm:pt>
    <dgm:pt modelId="{5A70DEFC-F64C-4EC4-A0AF-69AC1BBBA50B}" type="pres">
      <dgm:prSet presAssocID="{F7A76222-9ABE-487D-93BC-E40A8F2DBE85}" presName="arrowAndChildren" presStyleCnt="0"/>
      <dgm:spPr/>
    </dgm:pt>
    <dgm:pt modelId="{BAB307DA-A48F-4C6B-B898-BCBF989B641A}" type="pres">
      <dgm:prSet presAssocID="{F7A76222-9ABE-487D-93BC-E40A8F2DBE85}" presName="parentTextArrow" presStyleLbl="node1" presStyleIdx="2" presStyleCnt="3"/>
      <dgm:spPr/>
    </dgm:pt>
  </dgm:ptLst>
  <dgm:cxnLst>
    <dgm:cxn modelId="{A01ABC18-FD71-41FA-88A3-EA1D7C595BD4}" type="presOf" srcId="{FC59D5D2-1E99-4852-B651-9CA529BD26D2}" destId="{1343666C-9625-412A-B33B-D232C41F7AE6}" srcOrd="0" destOrd="0" presId="urn:microsoft.com/office/officeart/2005/8/layout/process4"/>
    <dgm:cxn modelId="{DF91622C-BC89-4615-8CC8-51B00D541769}" type="presOf" srcId="{F7A76222-9ABE-487D-93BC-E40A8F2DBE85}" destId="{BAB307DA-A48F-4C6B-B898-BCBF989B641A}" srcOrd="0" destOrd="0" presId="urn:microsoft.com/office/officeart/2005/8/layout/process4"/>
    <dgm:cxn modelId="{DB703E32-B797-4638-AA7F-F5018E1E6CA6}" srcId="{E8DB267E-D43F-451A-801A-2A5B2638C480}" destId="{F7A76222-9ABE-487D-93BC-E40A8F2DBE85}" srcOrd="0" destOrd="0" parTransId="{A1E244B2-42C3-40E4-916D-633F1707762A}" sibTransId="{047C3D70-2D7B-4A40-BF0D-CBE375D919F8}"/>
    <dgm:cxn modelId="{F75E5950-F153-4FB7-9336-AB609368D7DB}" srcId="{E8DB267E-D43F-451A-801A-2A5B2638C480}" destId="{9EE7E214-8855-463E-B65C-8475BFCB14AC}" srcOrd="2" destOrd="0" parTransId="{F7532125-8CA0-4F3F-9F2F-CE05252A54B7}" sibTransId="{1397009A-86B4-47D3-B488-D6C1CF58F6BD}"/>
    <dgm:cxn modelId="{5CA0955A-5702-4081-9CAC-C8929095B069}" type="presOf" srcId="{9EE7E214-8855-463E-B65C-8475BFCB14AC}" destId="{3EA617FC-6B7D-4089-92EB-4925E2E7CB08}" srcOrd="0" destOrd="0" presId="urn:microsoft.com/office/officeart/2005/8/layout/process4"/>
    <dgm:cxn modelId="{940510A4-5FC2-4C91-B411-FBB6C61E0688}" type="presOf" srcId="{E8DB267E-D43F-451A-801A-2A5B2638C480}" destId="{33BC3BAA-7836-4857-833E-A1472FE0E975}" srcOrd="0" destOrd="0" presId="urn:microsoft.com/office/officeart/2005/8/layout/process4"/>
    <dgm:cxn modelId="{6FB55AA4-C016-42D4-A776-32646115BBEA}" srcId="{E8DB267E-D43F-451A-801A-2A5B2638C480}" destId="{FC59D5D2-1E99-4852-B651-9CA529BD26D2}" srcOrd="1" destOrd="0" parTransId="{2376E3C2-3204-400F-9572-E3BD1233573C}" sibTransId="{CE23E76C-B8F4-4961-AED2-2C3B7333DE20}"/>
    <dgm:cxn modelId="{C553CDF6-F827-4798-9759-D5354BD2B65D}" type="presParOf" srcId="{33BC3BAA-7836-4857-833E-A1472FE0E975}" destId="{3C661997-A3BD-4679-9537-ADBB035B3F91}" srcOrd="0" destOrd="0" presId="urn:microsoft.com/office/officeart/2005/8/layout/process4"/>
    <dgm:cxn modelId="{4B6C5F14-0EC2-4ED2-B764-AAF8632EF003}" type="presParOf" srcId="{3C661997-A3BD-4679-9537-ADBB035B3F91}" destId="{3EA617FC-6B7D-4089-92EB-4925E2E7CB08}" srcOrd="0" destOrd="0" presId="urn:microsoft.com/office/officeart/2005/8/layout/process4"/>
    <dgm:cxn modelId="{0DC9CC5A-C273-46F4-B2B7-C2FE16062DF1}" type="presParOf" srcId="{33BC3BAA-7836-4857-833E-A1472FE0E975}" destId="{FEEBD1D4-5085-4D65-A524-DFF33B083543}" srcOrd="1" destOrd="0" presId="urn:microsoft.com/office/officeart/2005/8/layout/process4"/>
    <dgm:cxn modelId="{9DD7D5A7-0DA3-4FDC-ADFA-80855FEB7023}" type="presParOf" srcId="{33BC3BAA-7836-4857-833E-A1472FE0E975}" destId="{2ABA19EE-7551-4AA4-B5A3-249B93DFE5E7}" srcOrd="2" destOrd="0" presId="urn:microsoft.com/office/officeart/2005/8/layout/process4"/>
    <dgm:cxn modelId="{9C90A6BB-B973-4D17-8244-F0E45C6FE148}" type="presParOf" srcId="{2ABA19EE-7551-4AA4-B5A3-249B93DFE5E7}" destId="{1343666C-9625-412A-B33B-D232C41F7AE6}" srcOrd="0" destOrd="0" presId="urn:microsoft.com/office/officeart/2005/8/layout/process4"/>
    <dgm:cxn modelId="{3FF72A5E-15FB-4913-B48E-DA439AEA1B48}" type="presParOf" srcId="{33BC3BAA-7836-4857-833E-A1472FE0E975}" destId="{16163B67-E4CA-4095-86DB-369F2DCC6A9F}" srcOrd="3" destOrd="0" presId="urn:microsoft.com/office/officeart/2005/8/layout/process4"/>
    <dgm:cxn modelId="{46FA660B-D165-46E9-B40D-54628F30B709}" type="presParOf" srcId="{33BC3BAA-7836-4857-833E-A1472FE0E975}" destId="{5A70DEFC-F64C-4EC4-A0AF-69AC1BBBA50B}" srcOrd="4" destOrd="0" presId="urn:microsoft.com/office/officeart/2005/8/layout/process4"/>
    <dgm:cxn modelId="{C7793958-264E-4457-8EE0-E2B4E97C1173}" type="presParOf" srcId="{5A70DEFC-F64C-4EC4-A0AF-69AC1BBBA50B}" destId="{BAB307DA-A48F-4C6B-B898-BCBF989B641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617FC-6B7D-4089-92EB-4925E2E7CB08}">
      <dsp:nvSpPr>
        <dsp:cNvPr id="0" name=""/>
        <dsp:cNvSpPr/>
      </dsp:nvSpPr>
      <dsp:spPr>
        <a:xfrm>
          <a:off x="0" y="3628406"/>
          <a:ext cx="4908899" cy="119092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Hace el código más flexible y reutilizable.</a:t>
          </a:r>
        </a:p>
      </dsp:txBody>
      <dsp:txXfrm>
        <a:off x="0" y="3628406"/>
        <a:ext cx="4908899" cy="1190923"/>
      </dsp:txXfrm>
    </dsp:sp>
    <dsp:sp modelId="{1343666C-9625-412A-B33B-D232C41F7AE6}">
      <dsp:nvSpPr>
        <dsp:cNvPr id="0" name=""/>
        <dsp:cNvSpPr/>
      </dsp:nvSpPr>
      <dsp:spPr>
        <a:xfrm rot="10800000">
          <a:off x="0" y="1814629"/>
          <a:ext cx="4908899" cy="1831640"/>
        </a:xfrm>
        <a:prstGeom prst="upArrowCallout">
          <a:avLst/>
        </a:prstGeom>
        <a:gradFill rotWithShape="0">
          <a:gsLst>
            <a:gs pos="0">
              <a:schemeClr val="accent2">
                <a:hueOff val="-1555074"/>
                <a:satOff val="-8227"/>
                <a:lumOff val="-3137"/>
                <a:alphaOff val="0"/>
                <a:tint val="98000"/>
                <a:lumMod val="100000"/>
              </a:schemeClr>
            </a:gs>
            <a:gs pos="100000">
              <a:schemeClr val="accent2">
                <a:hueOff val="-1555074"/>
                <a:satOff val="-8227"/>
                <a:lumOff val="-3137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Permite que diferentes clases respondan al mismo método de manera distinta.</a:t>
          </a:r>
        </a:p>
      </dsp:txBody>
      <dsp:txXfrm rot="10800000">
        <a:off x="0" y="1814629"/>
        <a:ext cx="4908899" cy="1190145"/>
      </dsp:txXfrm>
    </dsp:sp>
    <dsp:sp modelId="{BAB307DA-A48F-4C6B-B898-BCBF989B641A}">
      <dsp:nvSpPr>
        <dsp:cNvPr id="0" name=""/>
        <dsp:cNvSpPr/>
      </dsp:nvSpPr>
      <dsp:spPr>
        <a:xfrm rot="10800000">
          <a:off x="0" y="852"/>
          <a:ext cx="4908899" cy="1831640"/>
        </a:xfrm>
        <a:prstGeom prst="upArrowCallout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Significa 'muchas formas'.</a:t>
          </a:r>
        </a:p>
      </dsp:txBody>
      <dsp:txXfrm rot="10800000">
        <a:off x="0" y="852"/>
        <a:ext cx="4908899" cy="1190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3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0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3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48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7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7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30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1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3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5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17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5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70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32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3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31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37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C946AC-2072-4946-A2B8-39F09D09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48C8C8-F348-4D00-852A-26DD9EBC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55"/>
          <a:stretch/>
        </p:blipFill>
        <p:spPr>
          <a:xfrm>
            <a:off x="1" y="857250"/>
            <a:ext cx="4520072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157" y="2381250"/>
            <a:ext cx="3385344" cy="2114549"/>
          </a:xfrm>
        </p:spPr>
        <p:txBody>
          <a:bodyPr>
            <a:normAutofit/>
          </a:bodyPr>
          <a:lstStyle/>
          <a:p>
            <a:r>
              <a:rPr lang="es-CO" sz="3700">
                <a:solidFill>
                  <a:srgbClr val="FFFFFF"/>
                </a:solidFill>
              </a:rPr>
              <a:t>Polimorfismo en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157" y="4495800"/>
            <a:ext cx="3385344" cy="685801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rgbClr val="FFFFFF"/>
                </a:solidFill>
              </a:rPr>
              <a:t>POO </a:t>
            </a:r>
          </a:p>
        </p:txBody>
      </p:sp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559FD8B5-8CC4-4CFE-BD2A-1216B1F2C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349034" y="2195761"/>
            <a:ext cx="4786054" cy="4660900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68580" tIns="34290" rIns="68580" bIns="34290" rtlCol="0" anchor="t">
            <a:normAutofit/>
          </a:bodyPr>
          <a:lstStyle/>
          <a:p>
            <a:pPr algn="ctr">
              <a:spcAft>
                <a:spcPts val="750"/>
              </a:spcAft>
              <a:buClr>
                <a:schemeClr val="tx1"/>
              </a:buClr>
              <a:buSzPct val="100000"/>
            </a:pPr>
            <a:endParaRPr lang="en-US" sz="1200" cap="all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9ECF13F4-3D2A-4F2E-9BBD-3038670D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39590" y="1779136"/>
            <a:ext cx="5172535" cy="4504118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660E16-DCC0-4B6C-8E84-4C292580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16205" y="1949089"/>
            <a:ext cx="5007957" cy="3926499"/>
            <a:chOff x="5516018" y="331504"/>
            <a:chExt cx="6675982" cy="523532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130F79-611E-4458-B53E-36A25721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EA78691-46E9-469A-921B-9D16933E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4AA196-3090-4283-ADF0-893F81085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D33794-9D71-4B08-AE11-8B589EFBA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AFBF0E-867E-4181-93DF-9A13F334B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7EA8258-0459-4037-BABC-B1A0A5D70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8BB355F-363A-4046-90AF-3DDB7AA18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334308-B9EC-41CF-8B6C-23FB134BA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81133-0656-4918-BE6A-703C148E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B4F93AD-8044-447B-8CAC-8A0697160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AA78689-5B7A-4420-A3DC-0EA08158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09CC934-4D78-4334-8B7F-4D0C13D6C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68DA411-6F43-42CF-8A08-B2871E38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417563A-04A5-4952-AA6D-E503558C5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A41B232-E630-4AC7-9A97-763529D70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EABA1A2-F7BA-4FB5-AD0A-A4DBBCF6F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EA99E51-908F-4D65-AC2B-A8E75A1FE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F2D126B-7D1C-4D2C-97D5-2D8C686B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B20164-1C4E-4FA3-A2E5-389E74077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4E7AD9-228F-47CD-A598-CB579B489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D2B81A-6082-4668-8AA7-F2757C8EC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469BD5F-3BFE-4BA0-A24F-7F80A73B8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24D532A-F49F-4BB9-AAA6-8B2B89CB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B2224AE-40A4-483D-991E-9490A01B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D3DE117-F3FA-4657-B4A7-40DE41238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5EA1EB-1126-463C-AD87-4FB126C6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0336723-7646-4B25-9EE9-519CC8334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52B6D8B-5579-4262-9376-B702382B0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07893BD-D1AE-48C1-91A9-D4787937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C6FEEA5-8E66-4C31-92AD-01305FF4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3E18335-591C-4354-9390-DD371BB3F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51098D0-C2B4-4D61-92D5-C81DDBDA2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EACD9C3-3E01-47CF-BC68-BDAE22E30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0A5C950-6480-44E0-9D50-F193147D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68F1BDE-24EB-4308-AB69-F353C8598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83E12EF-845B-41E6-BA82-F6CD46C0F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46EE72-4D70-46B4-B655-74722AAC2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2BB073B-89FD-4B47-814B-A8EE7A1EE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EE25488-63A9-43E5-A03F-2E628C3B2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BE7FDEE-BD70-4D8F-B5CE-4D03F1D00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039673A-8522-4BFC-B8B2-7F2FEAED4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7AB08C4-AF01-4D1D-90EA-A4113CFF9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8E7B06-FF45-4365-9DF4-E8E315A5B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8F00765-F5EC-427C-A7A1-CDFA040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FE1EF8A-C81D-4879-9142-3697CA0BC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80C0B62-6F07-4DD2-B308-F3C29F29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9C7C8CB-2D13-4138-B3C1-B78EC19B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EB1BC7E-04BC-423C-843D-7C149C25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8BA62C3-B17C-4AD0-B585-1C42ED74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B6F8BD1-22F9-4EE2-93C7-F859F3B99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173F2AA-33AE-4A43-AFA9-50C60D6F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6339DB1-5BB0-42C5-B12D-7555AD403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413BF1A-CE02-41EB-8977-EBE39AE0D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899680C-3DC7-4B71-8D34-7EE8306FE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3B57EA5-419A-4EE0-BB93-356B12F6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7A79B15-73B1-417F-A985-25FBC893F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66DE9DC-92E2-44D8-B7D0-D1295DD8F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9A1F3CD-685D-4541-8715-91E39B1E2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63E90F9-BD80-4805-A68E-CA56D524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014402D-979B-4D18-9E85-4D8F6C986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A04AE49-4B0B-4908-B1DB-480F568D2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293E6AC-4EF0-4B88-AC7E-BCB11201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344B49D-AFCD-4426-AC08-F3128282C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3B776AB-0884-47E4-AC8D-69A19A610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1EC5397-87DB-4803-855B-44DFE9BB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EF0075-59DA-4C16-BF01-C65EE2DD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ABF3642-CC62-4EA5-8A59-1AFF97A56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7715913-AE6D-4FFC-A6EC-E7EE027D2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6B78CB6-17D0-445E-A523-FD18D3BE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83E7655-41DA-4DFA-9DEC-FD37064F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E953697-F897-4DE0-B735-80C721129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C7CED19-0566-4D81-A59A-5A3561F1B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E247A59-B18F-4331-BC8D-07C3DA5E8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21C3132-6A07-4EB5-A00C-2176067C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067D677-3FA9-4187-B1CA-F6298A917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2E9FC80-B3E8-47CE-862C-9F6E9E598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D383F3C-A57C-472A-9E05-CCD8A4F8E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534D376-6ABA-4DF9-BBEA-EB5A88180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phic 6" descr="ADN">
            <a:extLst>
              <a:ext uri="{FF2B5EF4-FFF2-40B4-BE49-F238E27FC236}">
                <a16:creationId xmlns:a16="http://schemas.microsoft.com/office/drawing/2014/main" id="{C0F45E39-28EB-5EE0-DB07-9725148F1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4638" y="3344190"/>
            <a:ext cx="2765183" cy="276518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s-CO" sz="1800">
                <a:solidFill>
                  <a:srgbClr val="FFFFFF"/>
                </a:solidFill>
              </a:rPr>
              <a:t>¿Qué es Polimorfismo?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D2DE1B-35BE-7325-F999-A07DED92C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7323343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32807"/>
            <a:ext cx="5551714" cy="1020536"/>
          </a:xfrm>
        </p:spPr>
        <p:txBody>
          <a:bodyPr>
            <a:normAutofit/>
          </a:bodyPr>
          <a:lstStyle/>
          <a:p>
            <a:r>
              <a:t>Ejemplo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253343"/>
            <a:ext cx="5551714" cy="25440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O" sz="1100"/>
              <a:t>class Perro:</a:t>
            </a:r>
          </a:p>
          <a:p>
            <a:pPr>
              <a:lnSpc>
                <a:spcPct val="90000"/>
              </a:lnSpc>
            </a:pPr>
            <a:r>
              <a:rPr lang="es-CO" sz="1100"/>
              <a:t>    def hablar(self):</a:t>
            </a:r>
          </a:p>
          <a:p>
            <a:pPr>
              <a:lnSpc>
                <a:spcPct val="90000"/>
              </a:lnSpc>
            </a:pPr>
            <a:r>
              <a:rPr lang="es-CO" sz="1100"/>
              <a:t>        return 'Guau!'</a:t>
            </a:r>
          </a:p>
          <a:p>
            <a:pPr>
              <a:lnSpc>
                <a:spcPct val="90000"/>
              </a:lnSpc>
            </a:pPr>
            <a:r>
              <a:rPr lang="es-CO" sz="1100"/>
              <a:t>class Gato:</a:t>
            </a:r>
          </a:p>
          <a:p>
            <a:pPr>
              <a:lnSpc>
                <a:spcPct val="90000"/>
              </a:lnSpc>
            </a:pPr>
            <a:r>
              <a:rPr lang="es-CO" sz="1100"/>
              <a:t>    def hablar(self):</a:t>
            </a:r>
          </a:p>
          <a:p>
            <a:pPr>
              <a:lnSpc>
                <a:spcPct val="90000"/>
              </a:lnSpc>
            </a:pPr>
            <a:r>
              <a:rPr lang="es-CO" sz="1100"/>
              <a:t>        return 'Miau!'</a:t>
            </a:r>
          </a:p>
          <a:p>
            <a:pPr>
              <a:lnSpc>
                <a:spcPct val="90000"/>
              </a:lnSpc>
            </a:pPr>
            <a:r>
              <a:rPr lang="es-CO" sz="1100"/>
              <a:t>animales = [Perro(), Gato()]</a:t>
            </a:r>
          </a:p>
          <a:p>
            <a:pPr>
              <a:lnSpc>
                <a:spcPct val="90000"/>
              </a:lnSpc>
            </a:pPr>
            <a:r>
              <a:rPr lang="es-CO" sz="1100"/>
              <a:t>for animal in animales:</a:t>
            </a:r>
          </a:p>
          <a:p>
            <a:pPr>
              <a:lnSpc>
                <a:spcPct val="90000"/>
              </a:lnSpc>
            </a:pPr>
            <a:r>
              <a:rPr lang="es-CO" sz="1100"/>
              <a:t>    print(animal.hablar())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lang="es-CO"/>
              <a:t>Polimorfismo con herencia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sz="2000" dirty="0"/>
              <a:t>class </a:t>
            </a:r>
            <a:r>
              <a:rPr sz="2000" dirty="0" err="1"/>
              <a:t>Figura</a:t>
            </a:r>
            <a:r>
              <a:rPr sz="20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def area(self):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    pass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class </a:t>
            </a:r>
            <a:r>
              <a:rPr sz="2000" dirty="0" err="1"/>
              <a:t>Cuadrado</a:t>
            </a:r>
            <a:r>
              <a:rPr sz="2000" dirty="0"/>
              <a:t>(</a:t>
            </a:r>
            <a:r>
              <a:rPr sz="2000" dirty="0" err="1"/>
              <a:t>Figura</a:t>
            </a:r>
            <a:r>
              <a:rPr sz="2000" dirty="0"/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def __</a:t>
            </a:r>
            <a:r>
              <a:rPr sz="2000" dirty="0" err="1"/>
              <a:t>init</a:t>
            </a:r>
            <a:r>
              <a:rPr sz="2000" dirty="0"/>
              <a:t>__(self, </a:t>
            </a:r>
            <a:r>
              <a:rPr sz="2000" dirty="0" err="1"/>
              <a:t>lado</a:t>
            </a:r>
            <a:r>
              <a:rPr sz="2000" dirty="0"/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    </a:t>
            </a:r>
            <a:r>
              <a:rPr sz="2000" dirty="0" err="1"/>
              <a:t>self.lado</a:t>
            </a:r>
            <a:r>
              <a:rPr sz="2000" dirty="0"/>
              <a:t> = </a:t>
            </a:r>
            <a:r>
              <a:rPr sz="2000" dirty="0" err="1"/>
              <a:t>lado</a:t>
            </a:r>
            <a:endParaRPr sz="2000" dirty="0"/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def area(self):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    return </a:t>
            </a:r>
            <a:r>
              <a:rPr sz="2000" dirty="0" err="1"/>
              <a:t>self.lado</a:t>
            </a:r>
            <a:r>
              <a:rPr sz="2000" dirty="0"/>
              <a:t> ** 2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class </a:t>
            </a:r>
            <a:r>
              <a:rPr sz="2000" dirty="0" err="1"/>
              <a:t>Circulo</a:t>
            </a:r>
            <a:r>
              <a:rPr sz="2000" dirty="0"/>
              <a:t>(</a:t>
            </a:r>
            <a:r>
              <a:rPr sz="2000" dirty="0" err="1"/>
              <a:t>Figura</a:t>
            </a:r>
            <a:r>
              <a:rPr sz="2000" dirty="0"/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def __</a:t>
            </a:r>
            <a:r>
              <a:rPr sz="2000" dirty="0" err="1"/>
              <a:t>init</a:t>
            </a:r>
            <a:r>
              <a:rPr sz="2000" dirty="0"/>
              <a:t>__(self, radio):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    </a:t>
            </a:r>
            <a:r>
              <a:rPr sz="2000" dirty="0" err="1"/>
              <a:t>self.radio</a:t>
            </a:r>
            <a:r>
              <a:rPr sz="2000" dirty="0"/>
              <a:t> = radio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def area(self):</a:t>
            </a:r>
          </a:p>
          <a:p>
            <a:pPr marL="0" indent="0">
              <a:lnSpc>
                <a:spcPct val="90000"/>
              </a:lnSpc>
              <a:buNone/>
            </a:pPr>
            <a:r>
              <a:rPr sz="2000" dirty="0"/>
              <a:t>        return 3.14 * </a:t>
            </a:r>
            <a:r>
              <a:rPr sz="2000" dirty="0" err="1"/>
              <a:t>self.radio</a:t>
            </a:r>
            <a:r>
              <a:rPr sz="2000" dirty="0"/>
              <a:t> **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err="1"/>
              <a:t>figuras</a:t>
            </a:r>
            <a:r>
              <a:rPr sz="2000" dirty="0"/>
              <a:t> = [</a:t>
            </a:r>
            <a:r>
              <a:rPr sz="2000" dirty="0" err="1"/>
              <a:t>Cuadrado</a:t>
            </a:r>
            <a:r>
              <a:rPr sz="2000" dirty="0"/>
              <a:t>(4), </a:t>
            </a:r>
            <a:r>
              <a:rPr sz="2000" dirty="0" err="1"/>
              <a:t>Circulo</a:t>
            </a:r>
            <a:r>
              <a:rPr sz="2000" dirty="0"/>
              <a:t>(3)]</a:t>
            </a:r>
          </a:p>
          <a:p>
            <a:r>
              <a:rPr sz="2000" dirty="0"/>
              <a:t>for f in </a:t>
            </a:r>
            <a:r>
              <a:rPr sz="2000" dirty="0" err="1"/>
              <a:t>figuras</a:t>
            </a:r>
            <a:r>
              <a:rPr sz="2000" dirty="0"/>
              <a:t>:</a:t>
            </a:r>
          </a:p>
          <a:p>
            <a:r>
              <a:rPr sz="2000" dirty="0"/>
              <a:t>    print('</a:t>
            </a:r>
            <a:r>
              <a:rPr sz="2000" dirty="0" err="1"/>
              <a:t>Área</a:t>
            </a:r>
            <a:r>
              <a:rPr sz="2000" dirty="0"/>
              <a:t>:', </a:t>
            </a:r>
            <a:r>
              <a:rPr sz="2000" dirty="0" err="1"/>
              <a:t>f.area</a:t>
            </a:r>
            <a:r>
              <a:rPr sz="2000" dirty="0"/>
              <a:t>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del polimorfismo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Código </a:t>
            </a:r>
            <a:r>
              <a:rPr sz="2800" dirty="0" err="1"/>
              <a:t>más</a:t>
            </a:r>
            <a:r>
              <a:rPr sz="2800" dirty="0"/>
              <a:t> flexible</a:t>
            </a:r>
          </a:p>
          <a:p>
            <a:pPr marL="0" indent="0">
              <a:buNone/>
            </a:pPr>
            <a:r>
              <a:rPr sz="2800" dirty="0"/>
              <a:t>• </a:t>
            </a:r>
            <a:r>
              <a:rPr sz="2800" dirty="0" err="1"/>
              <a:t>Permite</a:t>
            </a:r>
            <a:r>
              <a:rPr sz="2800" dirty="0"/>
              <a:t> </a:t>
            </a:r>
            <a:r>
              <a:rPr sz="2800" dirty="0" err="1"/>
              <a:t>trabajar</a:t>
            </a:r>
            <a:r>
              <a:rPr sz="2800" dirty="0"/>
              <a:t> con </a:t>
            </a:r>
            <a:r>
              <a:rPr sz="2800" dirty="0" err="1"/>
              <a:t>colecciones</a:t>
            </a:r>
            <a:r>
              <a:rPr sz="2800" dirty="0"/>
              <a:t> </a:t>
            </a:r>
            <a:r>
              <a:rPr sz="2800" dirty="0" err="1"/>
              <a:t>heterogéneas</a:t>
            </a:r>
            <a:endParaRPr sz="2800" dirty="0"/>
          </a:p>
          <a:p>
            <a:pPr marL="0" indent="0">
              <a:buNone/>
            </a:pPr>
            <a:r>
              <a:rPr sz="2800" dirty="0"/>
              <a:t>• Reduce </a:t>
            </a:r>
            <a:r>
              <a:rPr sz="2800" dirty="0" err="1"/>
              <a:t>duplicación</a:t>
            </a:r>
            <a:r>
              <a:rPr sz="2800" dirty="0"/>
              <a:t> de </a:t>
            </a:r>
            <a:r>
              <a:rPr sz="2800" dirty="0" err="1"/>
              <a:t>código</a:t>
            </a:r>
            <a:endParaRPr sz="2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</Words>
  <Application>Microsoft Office PowerPoint</Application>
  <PresentationFormat>Presentación en pantalla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Polimorfismo en Python</vt:lpstr>
      <vt:lpstr>¿Qué es Polimorfismo?</vt:lpstr>
      <vt:lpstr>Ejemplo básico</vt:lpstr>
      <vt:lpstr>Polimorfismo con herencia</vt:lpstr>
      <vt:lpstr>Ejemplo de uso</vt:lpstr>
      <vt:lpstr>Ventajas del polimorfismo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Polimorfismo en Python</dc:title>
  <dc:creator>CLAUDIA ISABEL CACERES BECERRA</dc:creator>
  <cp:lastModifiedBy>CLAUDIA ISABEL CACERES BECERRA</cp:lastModifiedBy>
  <cp:revision>1</cp:revision>
  <dcterms:created xsi:type="dcterms:W3CDTF">2025-09-10T15:01:30Z</dcterms:created>
  <dcterms:modified xsi:type="dcterms:W3CDTF">2025-09-10T15:02:59Z</dcterms:modified>
</cp:coreProperties>
</file>