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63" r:id="rId10"/>
    <p:sldId id="264" r:id="rId11"/>
    <p:sldId id="265" r:id="rId12"/>
    <p:sldId id="266" r:id="rId13"/>
    <p:sldId id="267" r:id="rId14"/>
    <p:sldId id="268" r:id="rId15"/>
    <p:sldId id="27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236780-DCE4-43D9-A0C7-0474647112B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384370B-4EE2-4596-B340-164E91A9B735}">
      <dgm:prSet/>
      <dgm:spPr/>
      <dgm:t>
        <a:bodyPr/>
        <a:lstStyle/>
        <a:p>
          <a:r>
            <a:rPr lang="en-US"/>
            <a:t>• ¿Dónde guardamos los datos de nuestros programas?</a:t>
          </a:r>
        </a:p>
      </dgm:t>
    </dgm:pt>
    <dgm:pt modelId="{DA79F312-269A-4650-992B-B8C832087887}" type="parTrans" cxnId="{CE1CA19F-2329-4B60-99B4-C79FE7B0A6AE}">
      <dgm:prSet/>
      <dgm:spPr/>
      <dgm:t>
        <a:bodyPr/>
        <a:lstStyle/>
        <a:p>
          <a:endParaRPr lang="en-US"/>
        </a:p>
      </dgm:t>
    </dgm:pt>
    <dgm:pt modelId="{19033920-76EE-497A-A811-D6BFCA3E9C7D}" type="sibTrans" cxnId="{CE1CA19F-2329-4B60-99B4-C79FE7B0A6AE}">
      <dgm:prSet/>
      <dgm:spPr/>
      <dgm:t>
        <a:bodyPr/>
        <a:lstStyle/>
        <a:p>
          <a:endParaRPr lang="en-US"/>
        </a:p>
      </dgm:t>
    </dgm:pt>
    <dgm:pt modelId="{DCF8A94A-53C9-46A6-A0B7-10B8F46FF41A}">
      <dgm:prSet/>
      <dgm:spPr/>
      <dgm:t>
        <a:bodyPr/>
        <a:lstStyle/>
        <a:p>
          <a:r>
            <a:rPr lang="en-US"/>
            <a:t>• La memoria se borra cuando cerramos el programa.</a:t>
          </a:r>
        </a:p>
      </dgm:t>
    </dgm:pt>
    <dgm:pt modelId="{35D9C6C7-9441-466A-82B6-190AD2FA1389}" type="parTrans" cxnId="{5DFC5767-F0EC-4C06-B074-551FADDAB91E}">
      <dgm:prSet/>
      <dgm:spPr/>
      <dgm:t>
        <a:bodyPr/>
        <a:lstStyle/>
        <a:p>
          <a:endParaRPr lang="en-US"/>
        </a:p>
      </dgm:t>
    </dgm:pt>
    <dgm:pt modelId="{4888C958-FBC6-4A80-A8D1-281397E697BB}" type="sibTrans" cxnId="{5DFC5767-F0EC-4C06-B074-551FADDAB91E}">
      <dgm:prSet/>
      <dgm:spPr/>
      <dgm:t>
        <a:bodyPr/>
        <a:lstStyle/>
        <a:p>
          <a:endParaRPr lang="en-US"/>
        </a:p>
      </dgm:t>
    </dgm:pt>
    <dgm:pt modelId="{B1AD7796-31F0-421C-9AA6-51A2513EF71A}">
      <dgm:prSet/>
      <dgm:spPr/>
      <dgm:t>
        <a:bodyPr/>
        <a:lstStyle/>
        <a:p>
          <a:r>
            <a:rPr lang="en-US"/>
            <a:t>• Los archivos permiten persistencia.</a:t>
          </a:r>
        </a:p>
      </dgm:t>
    </dgm:pt>
    <dgm:pt modelId="{400557CA-C989-43E0-B749-24B622144544}" type="parTrans" cxnId="{59F98FF1-72B3-4A94-BCC1-1381901DE477}">
      <dgm:prSet/>
      <dgm:spPr/>
      <dgm:t>
        <a:bodyPr/>
        <a:lstStyle/>
        <a:p>
          <a:endParaRPr lang="en-US"/>
        </a:p>
      </dgm:t>
    </dgm:pt>
    <dgm:pt modelId="{6815D04A-5B93-4EF2-B1CA-68DCD31485D2}" type="sibTrans" cxnId="{59F98FF1-72B3-4A94-BCC1-1381901DE477}">
      <dgm:prSet/>
      <dgm:spPr/>
      <dgm:t>
        <a:bodyPr/>
        <a:lstStyle/>
        <a:p>
          <a:endParaRPr lang="en-US"/>
        </a:p>
      </dgm:t>
    </dgm:pt>
    <dgm:pt modelId="{3AD6BAB7-97D6-4DC3-8DE8-EBCABF4F110E}" type="pres">
      <dgm:prSet presAssocID="{FA236780-DCE4-43D9-A0C7-0474647112B8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A015584-6296-4B8C-9E1E-4A6C30F1CE9A}" type="pres">
      <dgm:prSet presAssocID="{2384370B-4EE2-4596-B340-164E91A9B735}" presName="compNode" presStyleCnt="0"/>
      <dgm:spPr/>
    </dgm:pt>
    <dgm:pt modelId="{6D73EFDF-41E3-4D14-ADBA-1386CFA9D009}" type="pres">
      <dgm:prSet presAssocID="{2384370B-4EE2-4596-B340-164E91A9B735}" presName="bgRect" presStyleLbl="bgShp" presStyleIdx="0" presStyleCnt="3"/>
      <dgm:spPr/>
    </dgm:pt>
    <dgm:pt modelId="{37B233B5-47B8-4FF2-83BA-E4B438F43462}" type="pres">
      <dgm:prSet presAssocID="{2384370B-4EE2-4596-B340-164E91A9B73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534C44D2-6558-4676-92B9-13BA19A7199C}" type="pres">
      <dgm:prSet presAssocID="{2384370B-4EE2-4596-B340-164E91A9B735}" presName="spaceRect" presStyleCnt="0"/>
      <dgm:spPr/>
    </dgm:pt>
    <dgm:pt modelId="{8BFBF587-CA3F-4344-A6F5-9D9338931C95}" type="pres">
      <dgm:prSet presAssocID="{2384370B-4EE2-4596-B340-164E91A9B735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3C9F3AC-A9D9-4357-B5A8-731C6079A916}" type="pres">
      <dgm:prSet presAssocID="{19033920-76EE-497A-A811-D6BFCA3E9C7D}" presName="sibTrans" presStyleCnt="0"/>
      <dgm:spPr/>
    </dgm:pt>
    <dgm:pt modelId="{2A22E8ED-271E-4C2D-B433-D6E4B8068016}" type="pres">
      <dgm:prSet presAssocID="{DCF8A94A-53C9-46A6-A0B7-10B8F46FF41A}" presName="compNode" presStyleCnt="0"/>
      <dgm:spPr/>
    </dgm:pt>
    <dgm:pt modelId="{1811EE66-2074-4873-BCFF-DA91DC36BB8F}" type="pres">
      <dgm:prSet presAssocID="{DCF8A94A-53C9-46A6-A0B7-10B8F46FF41A}" presName="bgRect" presStyleLbl="bgShp" presStyleIdx="1" presStyleCnt="3"/>
      <dgm:spPr/>
    </dgm:pt>
    <dgm:pt modelId="{99B64D4B-3521-434D-89EA-F20B731D096C}" type="pres">
      <dgm:prSet presAssocID="{DCF8A94A-53C9-46A6-A0B7-10B8F46FF41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ura"/>
        </a:ext>
      </dgm:extLst>
    </dgm:pt>
    <dgm:pt modelId="{A818FB1B-46D5-4D0B-84C9-F815FB61BC47}" type="pres">
      <dgm:prSet presAssocID="{DCF8A94A-53C9-46A6-A0B7-10B8F46FF41A}" presName="spaceRect" presStyleCnt="0"/>
      <dgm:spPr/>
    </dgm:pt>
    <dgm:pt modelId="{E7ADF127-2C48-4FD8-A32D-B3AD92CAAEEC}" type="pres">
      <dgm:prSet presAssocID="{DCF8A94A-53C9-46A6-A0B7-10B8F46FF41A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1F4AB59-0412-43E2-BEFE-0F3C90A04069}" type="pres">
      <dgm:prSet presAssocID="{4888C958-FBC6-4A80-A8D1-281397E697BB}" presName="sibTrans" presStyleCnt="0"/>
      <dgm:spPr/>
    </dgm:pt>
    <dgm:pt modelId="{760A8795-B385-4C93-B350-6AD4E6505123}" type="pres">
      <dgm:prSet presAssocID="{B1AD7796-31F0-421C-9AA6-51A2513EF71A}" presName="compNode" presStyleCnt="0"/>
      <dgm:spPr/>
    </dgm:pt>
    <dgm:pt modelId="{5324234E-F609-4887-8BD9-0BE7173B74D9}" type="pres">
      <dgm:prSet presAssocID="{B1AD7796-31F0-421C-9AA6-51A2513EF71A}" presName="bgRect" presStyleLbl="bgShp" presStyleIdx="2" presStyleCnt="3"/>
      <dgm:spPr/>
    </dgm:pt>
    <dgm:pt modelId="{BA0A4C21-3204-438E-AE6D-58D3F4436419}" type="pres">
      <dgm:prSet presAssocID="{B1AD7796-31F0-421C-9AA6-51A2513EF71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6DB40B8-6C4C-4D9A-9C43-A700C6D762EE}" type="pres">
      <dgm:prSet presAssocID="{B1AD7796-31F0-421C-9AA6-51A2513EF71A}" presName="spaceRect" presStyleCnt="0"/>
      <dgm:spPr/>
    </dgm:pt>
    <dgm:pt modelId="{B7797BD6-2265-450E-A64F-FF033F5085A7}" type="pres">
      <dgm:prSet presAssocID="{B1AD7796-31F0-421C-9AA6-51A2513EF71A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7EFF1710-BA7B-4026-9488-F206F8943AD2}" type="presOf" srcId="{2384370B-4EE2-4596-B340-164E91A9B735}" destId="{8BFBF587-CA3F-4344-A6F5-9D9338931C95}" srcOrd="0" destOrd="0" presId="urn:microsoft.com/office/officeart/2018/2/layout/IconVerticalSolidList"/>
    <dgm:cxn modelId="{499E74C6-ABE0-41B2-83CB-042A7EF79BCB}" type="presOf" srcId="{FA236780-DCE4-43D9-A0C7-0474647112B8}" destId="{3AD6BAB7-97D6-4DC3-8DE8-EBCABF4F110E}" srcOrd="0" destOrd="0" presId="urn:microsoft.com/office/officeart/2018/2/layout/IconVerticalSolidList"/>
    <dgm:cxn modelId="{E7BD98F8-A405-42E6-BFAE-26FDD8926B28}" type="presOf" srcId="{B1AD7796-31F0-421C-9AA6-51A2513EF71A}" destId="{B7797BD6-2265-450E-A64F-FF033F5085A7}" srcOrd="0" destOrd="0" presId="urn:microsoft.com/office/officeart/2018/2/layout/IconVerticalSolidList"/>
    <dgm:cxn modelId="{59F98FF1-72B3-4A94-BCC1-1381901DE477}" srcId="{FA236780-DCE4-43D9-A0C7-0474647112B8}" destId="{B1AD7796-31F0-421C-9AA6-51A2513EF71A}" srcOrd="2" destOrd="0" parTransId="{400557CA-C989-43E0-B749-24B622144544}" sibTransId="{6815D04A-5B93-4EF2-B1CA-68DCD31485D2}"/>
    <dgm:cxn modelId="{30D9ABCE-3335-49E3-8CC1-68ED8F5D0087}" type="presOf" srcId="{DCF8A94A-53C9-46A6-A0B7-10B8F46FF41A}" destId="{E7ADF127-2C48-4FD8-A32D-B3AD92CAAEEC}" srcOrd="0" destOrd="0" presId="urn:microsoft.com/office/officeart/2018/2/layout/IconVerticalSolidList"/>
    <dgm:cxn modelId="{CE1CA19F-2329-4B60-99B4-C79FE7B0A6AE}" srcId="{FA236780-DCE4-43D9-A0C7-0474647112B8}" destId="{2384370B-4EE2-4596-B340-164E91A9B735}" srcOrd="0" destOrd="0" parTransId="{DA79F312-269A-4650-992B-B8C832087887}" sibTransId="{19033920-76EE-497A-A811-D6BFCA3E9C7D}"/>
    <dgm:cxn modelId="{5DFC5767-F0EC-4C06-B074-551FADDAB91E}" srcId="{FA236780-DCE4-43D9-A0C7-0474647112B8}" destId="{DCF8A94A-53C9-46A6-A0B7-10B8F46FF41A}" srcOrd="1" destOrd="0" parTransId="{35D9C6C7-9441-466A-82B6-190AD2FA1389}" sibTransId="{4888C958-FBC6-4A80-A8D1-281397E697BB}"/>
    <dgm:cxn modelId="{ACE9A2D7-7B83-4023-B93F-B12504FBC71E}" type="presParOf" srcId="{3AD6BAB7-97D6-4DC3-8DE8-EBCABF4F110E}" destId="{DA015584-6296-4B8C-9E1E-4A6C30F1CE9A}" srcOrd="0" destOrd="0" presId="urn:microsoft.com/office/officeart/2018/2/layout/IconVerticalSolidList"/>
    <dgm:cxn modelId="{899B2818-52BE-412A-B561-AD794BFF980A}" type="presParOf" srcId="{DA015584-6296-4B8C-9E1E-4A6C30F1CE9A}" destId="{6D73EFDF-41E3-4D14-ADBA-1386CFA9D009}" srcOrd="0" destOrd="0" presId="urn:microsoft.com/office/officeart/2018/2/layout/IconVerticalSolidList"/>
    <dgm:cxn modelId="{AE64457D-D1B5-49D8-9297-31C12C59B3EF}" type="presParOf" srcId="{DA015584-6296-4B8C-9E1E-4A6C30F1CE9A}" destId="{37B233B5-47B8-4FF2-83BA-E4B438F43462}" srcOrd="1" destOrd="0" presId="urn:microsoft.com/office/officeart/2018/2/layout/IconVerticalSolidList"/>
    <dgm:cxn modelId="{61BED1DB-39E4-449B-A5E1-E63246169B1C}" type="presParOf" srcId="{DA015584-6296-4B8C-9E1E-4A6C30F1CE9A}" destId="{534C44D2-6558-4676-92B9-13BA19A7199C}" srcOrd="2" destOrd="0" presId="urn:microsoft.com/office/officeart/2018/2/layout/IconVerticalSolidList"/>
    <dgm:cxn modelId="{5A938539-D06C-4682-BFA4-8B6C661A244F}" type="presParOf" srcId="{DA015584-6296-4B8C-9E1E-4A6C30F1CE9A}" destId="{8BFBF587-CA3F-4344-A6F5-9D9338931C95}" srcOrd="3" destOrd="0" presId="urn:microsoft.com/office/officeart/2018/2/layout/IconVerticalSolidList"/>
    <dgm:cxn modelId="{4B89FCFB-09BA-4F21-A6FD-965B94CB20A9}" type="presParOf" srcId="{3AD6BAB7-97D6-4DC3-8DE8-EBCABF4F110E}" destId="{F3C9F3AC-A9D9-4357-B5A8-731C6079A916}" srcOrd="1" destOrd="0" presId="urn:microsoft.com/office/officeart/2018/2/layout/IconVerticalSolidList"/>
    <dgm:cxn modelId="{9C52D737-D8ED-4E3E-AE4E-86BA73ECF822}" type="presParOf" srcId="{3AD6BAB7-97D6-4DC3-8DE8-EBCABF4F110E}" destId="{2A22E8ED-271E-4C2D-B433-D6E4B8068016}" srcOrd="2" destOrd="0" presId="urn:microsoft.com/office/officeart/2018/2/layout/IconVerticalSolidList"/>
    <dgm:cxn modelId="{C17C65E7-448A-477D-89CA-139C1CB00687}" type="presParOf" srcId="{2A22E8ED-271E-4C2D-B433-D6E4B8068016}" destId="{1811EE66-2074-4873-BCFF-DA91DC36BB8F}" srcOrd="0" destOrd="0" presId="urn:microsoft.com/office/officeart/2018/2/layout/IconVerticalSolidList"/>
    <dgm:cxn modelId="{B76463EB-6131-44D5-BFCD-6159DCF590C2}" type="presParOf" srcId="{2A22E8ED-271E-4C2D-B433-D6E4B8068016}" destId="{99B64D4B-3521-434D-89EA-F20B731D096C}" srcOrd="1" destOrd="0" presId="urn:microsoft.com/office/officeart/2018/2/layout/IconVerticalSolidList"/>
    <dgm:cxn modelId="{D41E712D-1E8A-496D-A3E3-4AF18B7260BD}" type="presParOf" srcId="{2A22E8ED-271E-4C2D-B433-D6E4B8068016}" destId="{A818FB1B-46D5-4D0B-84C9-F815FB61BC47}" srcOrd="2" destOrd="0" presId="urn:microsoft.com/office/officeart/2018/2/layout/IconVerticalSolidList"/>
    <dgm:cxn modelId="{9ADFA714-F594-46F3-85DE-5903B8239988}" type="presParOf" srcId="{2A22E8ED-271E-4C2D-B433-D6E4B8068016}" destId="{E7ADF127-2C48-4FD8-A32D-B3AD92CAAEEC}" srcOrd="3" destOrd="0" presId="urn:microsoft.com/office/officeart/2018/2/layout/IconVerticalSolidList"/>
    <dgm:cxn modelId="{7F813EBE-8AEF-486D-A0DB-95248F14822E}" type="presParOf" srcId="{3AD6BAB7-97D6-4DC3-8DE8-EBCABF4F110E}" destId="{C1F4AB59-0412-43E2-BEFE-0F3C90A04069}" srcOrd="3" destOrd="0" presId="urn:microsoft.com/office/officeart/2018/2/layout/IconVerticalSolidList"/>
    <dgm:cxn modelId="{C7273391-37EF-444F-9DD1-DE206E266C8B}" type="presParOf" srcId="{3AD6BAB7-97D6-4DC3-8DE8-EBCABF4F110E}" destId="{760A8795-B385-4C93-B350-6AD4E6505123}" srcOrd="4" destOrd="0" presId="urn:microsoft.com/office/officeart/2018/2/layout/IconVerticalSolidList"/>
    <dgm:cxn modelId="{3B356A6E-F455-4E23-9FA6-9B9269E5FE73}" type="presParOf" srcId="{760A8795-B385-4C93-B350-6AD4E6505123}" destId="{5324234E-F609-4887-8BD9-0BE7173B74D9}" srcOrd="0" destOrd="0" presId="urn:microsoft.com/office/officeart/2018/2/layout/IconVerticalSolidList"/>
    <dgm:cxn modelId="{BDA528DB-37BA-46BB-ADF8-40E3B0049CE3}" type="presParOf" srcId="{760A8795-B385-4C93-B350-6AD4E6505123}" destId="{BA0A4C21-3204-438E-AE6D-58D3F4436419}" srcOrd="1" destOrd="0" presId="urn:microsoft.com/office/officeart/2018/2/layout/IconVerticalSolidList"/>
    <dgm:cxn modelId="{5292A44C-EF7B-427B-B892-C78924833BB7}" type="presParOf" srcId="{760A8795-B385-4C93-B350-6AD4E6505123}" destId="{E6DB40B8-6C4C-4D9A-9C43-A700C6D762EE}" srcOrd="2" destOrd="0" presId="urn:microsoft.com/office/officeart/2018/2/layout/IconVerticalSolidList"/>
    <dgm:cxn modelId="{723F73EB-4E4D-44ED-9169-ACF03345E9DD}" type="presParOf" srcId="{760A8795-B385-4C93-B350-6AD4E6505123}" destId="{B7797BD6-2265-450E-A64F-FF033F5085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90FBD8-E987-433E-8BE0-F7131B208DA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1CE2F4A-3622-493A-A593-38F1424F3CB8}">
      <dgm:prSet custT="1"/>
      <dgm:spPr/>
      <dgm:t>
        <a:bodyPr/>
        <a:lstStyle/>
        <a:p>
          <a:r>
            <a:rPr lang="en-US" sz="2000"/>
            <a:t>• open(nombre, modo)</a:t>
          </a:r>
        </a:p>
      </dgm:t>
    </dgm:pt>
    <dgm:pt modelId="{195D4DD0-E52D-4DC7-A15B-A371F9B652F0}" type="parTrans" cxnId="{2D5C525D-6B8C-4C18-B2AE-2A6AFBA9F398}">
      <dgm:prSet/>
      <dgm:spPr/>
      <dgm:t>
        <a:bodyPr/>
        <a:lstStyle/>
        <a:p>
          <a:endParaRPr lang="en-US"/>
        </a:p>
      </dgm:t>
    </dgm:pt>
    <dgm:pt modelId="{49C66859-A638-4425-AEC1-AF82531EDE20}" type="sibTrans" cxnId="{2D5C525D-6B8C-4C18-B2AE-2A6AFBA9F398}">
      <dgm:prSet/>
      <dgm:spPr/>
      <dgm:t>
        <a:bodyPr/>
        <a:lstStyle/>
        <a:p>
          <a:endParaRPr lang="en-US"/>
        </a:p>
      </dgm:t>
    </dgm:pt>
    <dgm:pt modelId="{20F6A783-F4A5-49B0-9D77-613030E5B6D9}">
      <dgm:prSet custT="1"/>
      <dgm:spPr/>
      <dgm:t>
        <a:bodyPr/>
        <a:lstStyle/>
        <a:p>
          <a:r>
            <a:rPr lang="en-US" sz="2000" dirty="0"/>
            <a:t>• </a:t>
          </a:r>
          <a:r>
            <a:rPr lang="en-US" sz="2000" dirty="0" err="1"/>
            <a:t>Modos</a:t>
          </a:r>
          <a:r>
            <a:rPr lang="en-US" sz="2000" dirty="0"/>
            <a:t>: </a:t>
          </a:r>
        </a:p>
        <a:p>
          <a:r>
            <a:rPr lang="en-US" sz="2000" dirty="0"/>
            <a:t>'r' leer 		'w' </a:t>
          </a:r>
          <a:r>
            <a:rPr lang="en-US" sz="2000" dirty="0" err="1"/>
            <a:t>escribir</a:t>
          </a:r>
          <a:endParaRPr lang="en-US" sz="2000" dirty="0"/>
        </a:p>
        <a:p>
          <a:r>
            <a:rPr lang="en-US" sz="2000" dirty="0"/>
            <a:t>'a' </a:t>
          </a:r>
          <a:r>
            <a:rPr lang="en-US" sz="2000" dirty="0" err="1"/>
            <a:t>añadir</a:t>
          </a:r>
          <a:r>
            <a:rPr lang="en-US" sz="2000" dirty="0"/>
            <a:t> 	'b' </a:t>
          </a:r>
          <a:r>
            <a:rPr lang="en-US" sz="2000" dirty="0" err="1"/>
            <a:t>binario</a:t>
          </a:r>
          <a:endParaRPr lang="en-US" sz="2000" dirty="0"/>
        </a:p>
      </dgm:t>
    </dgm:pt>
    <dgm:pt modelId="{0B31344D-D3DA-4CD0-8F75-E4D3483DBB91}" type="parTrans" cxnId="{24E4F4F2-6B74-46FB-A82A-93939C4F4CE6}">
      <dgm:prSet/>
      <dgm:spPr/>
      <dgm:t>
        <a:bodyPr/>
        <a:lstStyle/>
        <a:p>
          <a:endParaRPr lang="en-US"/>
        </a:p>
      </dgm:t>
    </dgm:pt>
    <dgm:pt modelId="{1CC0E4DA-C08A-4248-AB11-3FBB92293353}" type="sibTrans" cxnId="{24E4F4F2-6B74-46FB-A82A-93939C4F4CE6}">
      <dgm:prSet/>
      <dgm:spPr/>
      <dgm:t>
        <a:bodyPr/>
        <a:lstStyle/>
        <a:p>
          <a:endParaRPr lang="en-US"/>
        </a:p>
      </dgm:t>
    </dgm:pt>
    <dgm:pt modelId="{811DE946-299A-4B2F-98D1-FB241B925CFE}">
      <dgm:prSet custT="1"/>
      <dgm:spPr/>
      <dgm:t>
        <a:bodyPr/>
        <a:lstStyle/>
        <a:p>
          <a:r>
            <a:rPr lang="en-US" sz="2000"/>
            <a:t>• Usar with open(...) as f: para seguridad.</a:t>
          </a:r>
        </a:p>
      </dgm:t>
    </dgm:pt>
    <dgm:pt modelId="{9B51A14D-2A8C-4DAE-93D7-A26C6EEF9EB3}" type="parTrans" cxnId="{A109BB4B-35E4-4A79-BDC8-BC475300609D}">
      <dgm:prSet/>
      <dgm:spPr/>
      <dgm:t>
        <a:bodyPr/>
        <a:lstStyle/>
        <a:p>
          <a:endParaRPr lang="en-US"/>
        </a:p>
      </dgm:t>
    </dgm:pt>
    <dgm:pt modelId="{9D9A19E5-CCF3-4E59-A574-BF1907E652E0}" type="sibTrans" cxnId="{A109BB4B-35E4-4A79-BDC8-BC475300609D}">
      <dgm:prSet/>
      <dgm:spPr/>
      <dgm:t>
        <a:bodyPr/>
        <a:lstStyle/>
        <a:p>
          <a:endParaRPr lang="en-US"/>
        </a:p>
      </dgm:t>
    </dgm:pt>
    <dgm:pt modelId="{2D30EAC0-62E8-4A58-8F78-AA3916198EA1}" type="pres">
      <dgm:prSet presAssocID="{1590FBD8-E987-433E-8BE0-F7131B208DA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9D3BFD9-53E4-4A1B-9BFB-F8308105BF72}" type="pres">
      <dgm:prSet presAssocID="{A1CE2F4A-3622-493A-A593-38F1424F3CB8}" presName="parentText" presStyleLbl="node1" presStyleIdx="0" presStyleCnt="3" custLinFactNeighborX="833" custLinFactNeighborY="-3354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85D9DA-9CD0-462A-AE16-E0BD48E4B4DE}" type="pres">
      <dgm:prSet presAssocID="{49C66859-A638-4425-AEC1-AF82531EDE20}" presName="spacer" presStyleCnt="0"/>
      <dgm:spPr/>
    </dgm:pt>
    <dgm:pt modelId="{544FEF3A-0265-4C8B-99C4-37C84855B480}" type="pres">
      <dgm:prSet presAssocID="{20F6A783-F4A5-49B0-9D77-613030E5B6D9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733B23-AC01-48B0-AD7E-64EBB86F47F9}" type="pres">
      <dgm:prSet presAssocID="{1CC0E4DA-C08A-4248-AB11-3FBB92293353}" presName="spacer" presStyleCnt="0"/>
      <dgm:spPr/>
    </dgm:pt>
    <dgm:pt modelId="{578C72B5-D252-449B-BBE2-500FBFB57B1B}" type="pres">
      <dgm:prSet presAssocID="{811DE946-299A-4B2F-98D1-FB241B925CFE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109BB4B-35E4-4A79-BDC8-BC475300609D}" srcId="{1590FBD8-E987-433E-8BE0-F7131B208DA3}" destId="{811DE946-299A-4B2F-98D1-FB241B925CFE}" srcOrd="2" destOrd="0" parTransId="{9B51A14D-2A8C-4DAE-93D7-A26C6EEF9EB3}" sibTransId="{9D9A19E5-CCF3-4E59-A574-BF1907E652E0}"/>
    <dgm:cxn modelId="{3367D763-FE67-44BC-B435-EF14964B48E1}" type="presOf" srcId="{20F6A783-F4A5-49B0-9D77-613030E5B6D9}" destId="{544FEF3A-0265-4C8B-99C4-37C84855B480}" srcOrd="0" destOrd="0" presId="urn:microsoft.com/office/officeart/2005/8/layout/vList2"/>
    <dgm:cxn modelId="{2D5C525D-6B8C-4C18-B2AE-2A6AFBA9F398}" srcId="{1590FBD8-E987-433E-8BE0-F7131B208DA3}" destId="{A1CE2F4A-3622-493A-A593-38F1424F3CB8}" srcOrd="0" destOrd="0" parTransId="{195D4DD0-E52D-4DC7-A15B-A371F9B652F0}" sibTransId="{49C66859-A638-4425-AEC1-AF82531EDE20}"/>
    <dgm:cxn modelId="{FB10330C-9712-4F1B-8D96-893A809915DB}" type="presOf" srcId="{811DE946-299A-4B2F-98D1-FB241B925CFE}" destId="{578C72B5-D252-449B-BBE2-500FBFB57B1B}" srcOrd="0" destOrd="0" presId="urn:microsoft.com/office/officeart/2005/8/layout/vList2"/>
    <dgm:cxn modelId="{24E4F4F2-6B74-46FB-A82A-93939C4F4CE6}" srcId="{1590FBD8-E987-433E-8BE0-F7131B208DA3}" destId="{20F6A783-F4A5-49B0-9D77-613030E5B6D9}" srcOrd="1" destOrd="0" parTransId="{0B31344D-D3DA-4CD0-8F75-E4D3483DBB91}" sibTransId="{1CC0E4DA-C08A-4248-AB11-3FBB92293353}"/>
    <dgm:cxn modelId="{2DFAF200-DB93-4E8A-9F31-FC0124B4F7DA}" type="presOf" srcId="{1590FBD8-E987-433E-8BE0-F7131B208DA3}" destId="{2D30EAC0-62E8-4A58-8F78-AA3916198EA1}" srcOrd="0" destOrd="0" presId="urn:microsoft.com/office/officeart/2005/8/layout/vList2"/>
    <dgm:cxn modelId="{B8CAF70C-1B23-47B7-9C8D-CCC74AB9AA44}" type="presOf" srcId="{A1CE2F4A-3622-493A-A593-38F1424F3CB8}" destId="{F9D3BFD9-53E4-4A1B-9BFB-F8308105BF72}" srcOrd="0" destOrd="0" presId="urn:microsoft.com/office/officeart/2005/8/layout/vList2"/>
    <dgm:cxn modelId="{CFF5FDDE-D7AF-4E60-88EF-6C5E7CC2C130}" type="presParOf" srcId="{2D30EAC0-62E8-4A58-8F78-AA3916198EA1}" destId="{F9D3BFD9-53E4-4A1B-9BFB-F8308105BF72}" srcOrd="0" destOrd="0" presId="urn:microsoft.com/office/officeart/2005/8/layout/vList2"/>
    <dgm:cxn modelId="{65924EEF-D3BC-4B71-873C-A2063BDE5333}" type="presParOf" srcId="{2D30EAC0-62E8-4A58-8F78-AA3916198EA1}" destId="{7385D9DA-9CD0-462A-AE16-E0BD48E4B4DE}" srcOrd="1" destOrd="0" presId="urn:microsoft.com/office/officeart/2005/8/layout/vList2"/>
    <dgm:cxn modelId="{2ABC80B9-DFA2-425E-BFDD-70608728B01C}" type="presParOf" srcId="{2D30EAC0-62E8-4A58-8F78-AA3916198EA1}" destId="{544FEF3A-0265-4C8B-99C4-37C84855B480}" srcOrd="2" destOrd="0" presId="urn:microsoft.com/office/officeart/2005/8/layout/vList2"/>
    <dgm:cxn modelId="{92F88A68-78E7-4970-A28D-1B7DCFCED51B}" type="presParOf" srcId="{2D30EAC0-62E8-4A58-8F78-AA3916198EA1}" destId="{87733B23-AC01-48B0-AD7E-64EBB86F47F9}" srcOrd="3" destOrd="0" presId="urn:microsoft.com/office/officeart/2005/8/layout/vList2"/>
    <dgm:cxn modelId="{3ED6EE56-BD6E-4A77-A60B-ED14DFFA3415}" type="presParOf" srcId="{2D30EAC0-62E8-4A58-8F78-AA3916198EA1}" destId="{578C72B5-D252-449B-BBE2-500FBFB57B1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3EFDF-41E3-4D14-ADBA-1386CFA9D009}">
      <dsp:nvSpPr>
        <dsp:cNvPr id="0" name=""/>
        <dsp:cNvSpPr/>
      </dsp:nvSpPr>
      <dsp:spPr>
        <a:xfrm>
          <a:off x="0" y="665"/>
          <a:ext cx="4717669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B233B5-47B8-4FF2-83BA-E4B438F43462}">
      <dsp:nvSpPr>
        <dsp:cNvPr id="0" name=""/>
        <dsp:cNvSpPr/>
      </dsp:nvSpPr>
      <dsp:spPr>
        <a:xfrm>
          <a:off x="470725" y="350791"/>
          <a:ext cx="855865" cy="8558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FBF587-CA3F-4344-A6F5-9D9338931C95}">
      <dsp:nvSpPr>
        <dsp:cNvPr id="0" name=""/>
        <dsp:cNvSpPr/>
      </dsp:nvSpPr>
      <dsp:spPr>
        <a:xfrm>
          <a:off x="1797316" y="665"/>
          <a:ext cx="2920352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• ¿Dónde guardamos los datos de nuestros programas?</a:t>
          </a:r>
        </a:p>
      </dsp:txBody>
      <dsp:txXfrm>
        <a:off x="1797316" y="665"/>
        <a:ext cx="2920352" cy="1556118"/>
      </dsp:txXfrm>
    </dsp:sp>
    <dsp:sp modelId="{1811EE66-2074-4873-BCFF-DA91DC36BB8F}">
      <dsp:nvSpPr>
        <dsp:cNvPr id="0" name=""/>
        <dsp:cNvSpPr/>
      </dsp:nvSpPr>
      <dsp:spPr>
        <a:xfrm>
          <a:off x="0" y="1945813"/>
          <a:ext cx="4717669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B64D4B-3521-434D-89EA-F20B731D096C}">
      <dsp:nvSpPr>
        <dsp:cNvPr id="0" name=""/>
        <dsp:cNvSpPr/>
      </dsp:nvSpPr>
      <dsp:spPr>
        <a:xfrm>
          <a:off x="470725" y="2295939"/>
          <a:ext cx="855865" cy="8558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DF127-2C48-4FD8-A32D-B3AD92CAAEEC}">
      <dsp:nvSpPr>
        <dsp:cNvPr id="0" name=""/>
        <dsp:cNvSpPr/>
      </dsp:nvSpPr>
      <dsp:spPr>
        <a:xfrm>
          <a:off x="1797316" y="1945813"/>
          <a:ext cx="2920352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• La memoria se borra cuando cerramos el programa.</a:t>
          </a:r>
        </a:p>
      </dsp:txBody>
      <dsp:txXfrm>
        <a:off x="1797316" y="1945813"/>
        <a:ext cx="2920352" cy="1556118"/>
      </dsp:txXfrm>
    </dsp:sp>
    <dsp:sp modelId="{5324234E-F609-4887-8BD9-0BE7173B74D9}">
      <dsp:nvSpPr>
        <dsp:cNvPr id="0" name=""/>
        <dsp:cNvSpPr/>
      </dsp:nvSpPr>
      <dsp:spPr>
        <a:xfrm>
          <a:off x="0" y="3890961"/>
          <a:ext cx="4717669" cy="15561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0A4C21-3204-438E-AE6D-58D3F4436419}">
      <dsp:nvSpPr>
        <dsp:cNvPr id="0" name=""/>
        <dsp:cNvSpPr/>
      </dsp:nvSpPr>
      <dsp:spPr>
        <a:xfrm>
          <a:off x="470725" y="4241088"/>
          <a:ext cx="855865" cy="8558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97BD6-2265-450E-A64F-FF033F5085A7}">
      <dsp:nvSpPr>
        <dsp:cNvPr id="0" name=""/>
        <dsp:cNvSpPr/>
      </dsp:nvSpPr>
      <dsp:spPr>
        <a:xfrm>
          <a:off x="1797316" y="3890961"/>
          <a:ext cx="2920352" cy="1556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89" tIns="164689" rIns="164689" bIns="164689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• Los archivos permiten persistencia.</a:t>
          </a:r>
        </a:p>
      </dsp:txBody>
      <dsp:txXfrm>
        <a:off x="1797316" y="3890961"/>
        <a:ext cx="2920352" cy="15561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3BFD9-53E4-4A1B-9BFB-F8308105BF72}">
      <dsp:nvSpPr>
        <dsp:cNvPr id="0" name=""/>
        <dsp:cNvSpPr/>
      </dsp:nvSpPr>
      <dsp:spPr>
        <a:xfrm>
          <a:off x="0" y="420528"/>
          <a:ext cx="4717669" cy="13689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• open(nombre, modo)</a:t>
          </a:r>
        </a:p>
      </dsp:txBody>
      <dsp:txXfrm>
        <a:off x="66824" y="487352"/>
        <a:ext cx="4584021" cy="1235252"/>
      </dsp:txXfrm>
    </dsp:sp>
    <dsp:sp modelId="{544FEF3A-0265-4C8B-99C4-37C84855B480}">
      <dsp:nvSpPr>
        <dsp:cNvPr id="0" name=""/>
        <dsp:cNvSpPr/>
      </dsp:nvSpPr>
      <dsp:spPr>
        <a:xfrm>
          <a:off x="0" y="2039422"/>
          <a:ext cx="4717669" cy="1368900"/>
        </a:xfrm>
        <a:prstGeom prst="roundRect">
          <a:avLst/>
        </a:prstGeom>
        <a:gradFill rotWithShape="0">
          <a:gsLst>
            <a:gs pos="0">
              <a:schemeClr val="accent2">
                <a:hueOff val="509834"/>
                <a:satOff val="-1329"/>
                <a:lumOff val="3137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509834"/>
                <a:satOff val="-1329"/>
                <a:lumOff val="3137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• </a:t>
          </a:r>
          <a:r>
            <a:rPr lang="en-US" sz="2000" kern="1200" dirty="0" err="1"/>
            <a:t>Modos</a:t>
          </a:r>
          <a:r>
            <a:rPr lang="en-US" sz="2000" kern="1200" dirty="0"/>
            <a:t>: 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'r' leer 		'w' </a:t>
          </a:r>
          <a:r>
            <a:rPr lang="en-US" sz="2000" kern="1200" dirty="0" err="1"/>
            <a:t>escribir</a:t>
          </a:r>
          <a:endParaRPr lang="en-US" sz="2000" kern="1200" dirty="0"/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'a' </a:t>
          </a:r>
          <a:r>
            <a:rPr lang="en-US" sz="2000" kern="1200" dirty="0" err="1"/>
            <a:t>añadir</a:t>
          </a:r>
          <a:r>
            <a:rPr lang="en-US" sz="2000" kern="1200" dirty="0"/>
            <a:t> 	'b' </a:t>
          </a:r>
          <a:r>
            <a:rPr lang="en-US" sz="2000" kern="1200" dirty="0" err="1"/>
            <a:t>binario</a:t>
          </a:r>
          <a:endParaRPr lang="en-US" sz="2000" kern="1200" dirty="0"/>
        </a:p>
      </dsp:txBody>
      <dsp:txXfrm>
        <a:off x="66824" y="2106246"/>
        <a:ext cx="4584021" cy="1235252"/>
      </dsp:txXfrm>
    </dsp:sp>
    <dsp:sp modelId="{578C72B5-D252-449B-BBE2-500FBFB57B1B}">
      <dsp:nvSpPr>
        <dsp:cNvPr id="0" name=""/>
        <dsp:cNvSpPr/>
      </dsp:nvSpPr>
      <dsp:spPr>
        <a:xfrm>
          <a:off x="0" y="3595522"/>
          <a:ext cx="4717669" cy="1368900"/>
        </a:xfrm>
        <a:prstGeom prst="roundRect">
          <a:avLst/>
        </a:prstGeom>
        <a:gradFill rotWithShape="0">
          <a:gsLst>
            <a:gs pos="0">
              <a:schemeClr val="accent2">
                <a:hueOff val="1019668"/>
                <a:satOff val="-2658"/>
                <a:lumOff val="6274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1019668"/>
                <a:satOff val="-2658"/>
                <a:lumOff val="6274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• Usar with open(...) as f: para seguridad.</a:t>
          </a:r>
        </a:p>
      </dsp:txBody>
      <dsp:txXfrm>
        <a:off x="66824" y="3662346"/>
        <a:ext cx="4584021" cy="1235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EFA2B-7FBC-43F0-857E-3109C676F046}" type="datetimeFigureOut">
              <a:rPr lang="es-CO" smtClean="0"/>
              <a:t>24/09/2025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D28AC-B1B7-43E4-851A-2F151D705BE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640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D28AC-B1B7-43E4-851A-2F151D705BEA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4450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9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38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7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6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31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02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75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10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9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38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0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4129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80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48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04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76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22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2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0837" y="965200"/>
            <a:ext cx="5529263" cy="3404680"/>
          </a:xfrm>
        </p:spPr>
        <p:txBody>
          <a:bodyPr>
            <a:normAutofit/>
          </a:bodyPr>
          <a:lstStyle/>
          <a:p>
            <a:r>
              <a:rPr lang="es-MX" sz="4700" dirty="0"/>
              <a:t>Programación en Python – Manejo de Archivos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0837" y="4503906"/>
            <a:ext cx="5529263" cy="1388892"/>
          </a:xfrm>
        </p:spPr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s-CO" sz="2500">
                <a:solidFill>
                  <a:schemeClr val="bg1"/>
                </a:solidFill>
              </a:rPr>
              <a:t>Motivación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722926-0144-F5DF-DA76-52AF660C58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4793477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B781DC51-1D15-43A2-AB4F-2051C5F1C4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008B81-C8A4-4EEF-A211-877A35E98A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2B94A0-9C04-497F-9F2A-234AC715BC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9CB58F-9DB1-495E-8241-D899410449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s-CO" sz="2500">
                <a:solidFill>
                  <a:schemeClr val="bg1"/>
                </a:solidFill>
              </a:rPr>
              <a:t>Operaciones básicas con archivos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97BC29-4192-3D72-1BCE-A6BB82B6A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327037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Leer archivos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read() → </a:t>
            </a:r>
            <a:r>
              <a:rPr dirty="0" err="1"/>
              <a:t>todo</a:t>
            </a:r>
            <a:r>
              <a:rPr dirty="0"/>
              <a:t> el </a:t>
            </a:r>
            <a:r>
              <a:rPr dirty="0" err="1"/>
              <a:t>contenido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readline</a:t>
            </a:r>
            <a:r>
              <a:rPr dirty="0"/>
              <a:t>() → una </a:t>
            </a:r>
            <a:r>
              <a:rPr dirty="0" err="1"/>
              <a:t>línea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readlines</a:t>
            </a:r>
            <a:r>
              <a:rPr dirty="0"/>
              <a:t>() → </a:t>
            </a:r>
            <a:r>
              <a:rPr dirty="0" err="1"/>
              <a:t>lista</a:t>
            </a:r>
            <a:r>
              <a:rPr dirty="0"/>
              <a:t> de </a:t>
            </a:r>
            <a:r>
              <a:rPr dirty="0" err="1"/>
              <a:t>líneas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Escribir archivos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write('</a:t>
            </a:r>
            <a:r>
              <a:rPr dirty="0" err="1"/>
              <a:t>texto</a:t>
            </a:r>
            <a:r>
              <a:rPr dirty="0"/>
              <a:t>')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writelines</a:t>
            </a:r>
            <a:r>
              <a:rPr dirty="0"/>
              <a:t>(</a:t>
            </a:r>
            <a:r>
              <a:rPr dirty="0" err="1"/>
              <a:t>lista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práctico – Texto plano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200275"/>
            <a:ext cx="7955280" cy="406336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 err="1"/>
              <a:t>Guardar</a:t>
            </a:r>
            <a:r>
              <a:rPr b="1" dirty="0"/>
              <a:t> </a:t>
            </a:r>
            <a:r>
              <a:rPr b="1" dirty="0" err="1"/>
              <a:t>notas</a:t>
            </a:r>
            <a:r>
              <a:rPr b="1" dirty="0"/>
              <a:t> de </a:t>
            </a:r>
            <a:r>
              <a:rPr b="1" dirty="0" err="1"/>
              <a:t>estudiantes</a:t>
            </a:r>
            <a:r>
              <a:rPr b="1" dirty="0"/>
              <a:t> </a:t>
            </a:r>
            <a:r>
              <a:rPr b="1" dirty="0" err="1"/>
              <a:t>en</a:t>
            </a:r>
            <a:r>
              <a:rPr b="1" dirty="0"/>
              <a:t> un </a:t>
            </a:r>
            <a:r>
              <a:rPr b="1" dirty="0" err="1"/>
              <a:t>archivo</a:t>
            </a:r>
            <a:r>
              <a:rPr b="1" dirty="0"/>
              <a:t> y </a:t>
            </a:r>
            <a:r>
              <a:rPr b="1" dirty="0" err="1"/>
              <a:t>leerlas</a:t>
            </a:r>
            <a:r>
              <a:rPr b="1" dirty="0"/>
              <a:t>.</a:t>
            </a:r>
            <a:endParaRPr lang="es-MX" b="1" dirty="0"/>
          </a:p>
          <a:p>
            <a:pPr marL="0" indent="0">
              <a:buNone/>
            </a:pPr>
            <a:r>
              <a:rPr lang="es-CO" dirty="0"/>
              <a:t># ejemplo_texto.py</a:t>
            </a:r>
          </a:p>
          <a:p>
            <a:pPr marL="0" indent="0">
              <a:buNone/>
            </a:pPr>
            <a:r>
              <a:rPr lang="es-CO" dirty="0"/>
              <a:t># Guardar y leer notas de estudiantes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/>
              <a:t># Escribir en archivo</a:t>
            </a:r>
          </a:p>
          <a:p>
            <a:pPr marL="0" indent="0">
              <a:buNone/>
            </a:pPr>
            <a:r>
              <a:rPr lang="es-CO" dirty="0" err="1"/>
              <a:t>with</a:t>
            </a:r>
            <a:r>
              <a:rPr lang="es-CO" dirty="0"/>
              <a:t> open("notas.txt", "w", </a:t>
            </a:r>
            <a:r>
              <a:rPr lang="es-CO" dirty="0" err="1"/>
              <a:t>encoding</a:t>
            </a:r>
            <a:r>
              <a:rPr lang="es-CO" dirty="0"/>
              <a:t>="utf-8") as f: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f.write</a:t>
            </a:r>
            <a:r>
              <a:rPr lang="es-CO" dirty="0"/>
              <a:t>("Juan: 4.5\n")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f.write</a:t>
            </a:r>
            <a:r>
              <a:rPr lang="es-CO" dirty="0"/>
              <a:t>("Ana: 3.8\n")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f.write</a:t>
            </a:r>
            <a:r>
              <a:rPr lang="es-CO" dirty="0"/>
              <a:t>("Luis: 4.9\n")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/>
              <a:t># Leer archivo</a:t>
            </a:r>
          </a:p>
          <a:p>
            <a:pPr marL="0" indent="0">
              <a:buNone/>
            </a:pPr>
            <a:r>
              <a:rPr lang="es-CO" dirty="0" err="1"/>
              <a:t>with</a:t>
            </a:r>
            <a:r>
              <a:rPr lang="es-CO" dirty="0"/>
              <a:t> open("notas.txt", "r", </a:t>
            </a:r>
            <a:r>
              <a:rPr lang="es-CO" dirty="0" err="1"/>
              <a:t>encoding</a:t>
            </a:r>
            <a:r>
              <a:rPr lang="es-CO" dirty="0"/>
              <a:t>="utf-8") as f: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print</a:t>
            </a:r>
            <a:r>
              <a:rPr lang="es-CO" dirty="0"/>
              <a:t>("Contenido del archivo:")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print</a:t>
            </a:r>
            <a:r>
              <a:rPr lang="es-CO" dirty="0"/>
              <a:t>(</a:t>
            </a:r>
            <a:r>
              <a:rPr lang="es-CO" dirty="0" err="1"/>
              <a:t>f.read</a:t>
            </a:r>
            <a:r>
              <a:rPr lang="es-CO" dirty="0"/>
              <a:t>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Archivos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895600"/>
            <a:ext cx="7955280" cy="3368040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CSV =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separados</a:t>
            </a:r>
            <a:r>
              <a:rPr dirty="0"/>
              <a:t> por comas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Librería</a:t>
            </a:r>
            <a:r>
              <a:rPr dirty="0"/>
              <a:t> </a:t>
            </a:r>
            <a:r>
              <a:rPr dirty="0" err="1"/>
              <a:t>estándar</a:t>
            </a:r>
            <a:r>
              <a:rPr dirty="0"/>
              <a:t> csv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Útil</a:t>
            </a:r>
            <a:r>
              <a:rPr dirty="0"/>
              <a:t> para </a:t>
            </a:r>
            <a:r>
              <a:rPr dirty="0" err="1"/>
              <a:t>listas</a:t>
            </a:r>
            <a:r>
              <a:rPr dirty="0"/>
              <a:t> y </a:t>
            </a:r>
            <a:r>
              <a:rPr dirty="0" err="1"/>
              <a:t>tablas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B595F-5D44-42F2-8F24-03BC0406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DA79C6-66EF-45B3-BB77-73DF1ACB1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CO" dirty="0"/>
              <a:t># ejemplo_csv.py</a:t>
            </a:r>
          </a:p>
          <a:p>
            <a:pPr marL="0" indent="0">
              <a:buNone/>
            </a:pPr>
            <a:r>
              <a:rPr lang="es-CO" dirty="0" err="1"/>
              <a:t>import</a:t>
            </a:r>
            <a:r>
              <a:rPr lang="es-CO" dirty="0"/>
              <a:t> </a:t>
            </a:r>
            <a:r>
              <a:rPr lang="es-CO" dirty="0" err="1"/>
              <a:t>csv</a:t>
            </a:r>
            <a:endParaRPr lang="es-CO" dirty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/>
              <a:t># Guardar datos en CSV</a:t>
            </a:r>
          </a:p>
          <a:p>
            <a:pPr marL="0" indent="0">
              <a:buNone/>
            </a:pPr>
            <a:r>
              <a:rPr lang="es-CO" dirty="0" err="1"/>
              <a:t>with</a:t>
            </a:r>
            <a:r>
              <a:rPr lang="es-CO" dirty="0"/>
              <a:t> open("estudiantes.csv", "w", </a:t>
            </a:r>
            <a:r>
              <a:rPr lang="es-CO" dirty="0" err="1"/>
              <a:t>newline</a:t>
            </a:r>
            <a:r>
              <a:rPr lang="es-CO" dirty="0"/>
              <a:t>="", </a:t>
            </a:r>
            <a:r>
              <a:rPr lang="es-CO" dirty="0" err="1"/>
              <a:t>encoding</a:t>
            </a:r>
            <a:r>
              <a:rPr lang="es-CO" dirty="0"/>
              <a:t>="utf-8") as f: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writer</a:t>
            </a:r>
            <a:r>
              <a:rPr lang="es-CO" dirty="0"/>
              <a:t> = </a:t>
            </a:r>
            <a:r>
              <a:rPr lang="es-CO" dirty="0" err="1"/>
              <a:t>csv.writer</a:t>
            </a:r>
            <a:r>
              <a:rPr lang="es-CO" dirty="0"/>
              <a:t>(f)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writer.writerow</a:t>
            </a:r>
            <a:r>
              <a:rPr lang="es-CO" dirty="0"/>
              <a:t>(["Nombre", "Edad", "Programa"])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writer.writerow</a:t>
            </a:r>
            <a:r>
              <a:rPr lang="es-CO" dirty="0"/>
              <a:t>(["Juan", 20, "Sistemas"])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writer.writerow</a:t>
            </a:r>
            <a:r>
              <a:rPr lang="es-CO" dirty="0"/>
              <a:t>(["Ana", 21, "Industrial"])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writer.writerow</a:t>
            </a:r>
            <a:r>
              <a:rPr lang="es-CO" dirty="0"/>
              <a:t>(["Luis", 19, "Mecatrónica"])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/>
              <a:t># Leer CSV</a:t>
            </a:r>
          </a:p>
          <a:p>
            <a:pPr marL="0" indent="0">
              <a:buNone/>
            </a:pPr>
            <a:r>
              <a:rPr lang="es-CO" dirty="0" err="1"/>
              <a:t>with</a:t>
            </a:r>
            <a:r>
              <a:rPr lang="es-CO" dirty="0"/>
              <a:t> open("estudiantes.csv", "r", </a:t>
            </a:r>
            <a:r>
              <a:rPr lang="es-CO" dirty="0" err="1"/>
              <a:t>encoding</a:t>
            </a:r>
            <a:r>
              <a:rPr lang="es-CO" dirty="0"/>
              <a:t>="utf-8") as f: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reader</a:t>
            </a:r>
            <a:r>
              <a:rPr lang="es-CO" dirty="0"/>
              <a:t> = </a:t>
            </a:r>
            <a:r>
              <a:rPr lang="es-CO" dirty="0" err="1"/>
              <a:t>csv.reader</a:t>
            </a:r>
            <a:r>
              <a:rPr lang="es-CO" dirty="0"/>
              <a:t>(f)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for</a:t>
            </a:r>
            <a:r>
              <a:rPr lang="es-CO" dirty="0"/>
              <a:t> fila in </a:t>
            </a:r>
            <a:r>
              <a:rPr lang="es-CO" dirty="0" err="1"/>
              <a:t>reader</a:t>
            </a:r>
            <a:r>
              <a:rPr lang="es-CO" dirty="0"/>
              <a:t>:</a:t>
            </a:r>
          </a:p>
          <a:p>
            <a:pPr marL="0" indent="0">
              <a:buNone/>
            </a:pPr>
            <a:r>
              <a:rPr lang="es-CO" dirty="0"/>
              <a:t>        </a:t>
            </a:r>
            <a:r>
              <a:rPr lang="es-CO" dirty="0" err="1"/>
              <a:t>print</a:t>
            </a:r>
            <a:r>
              <a:rPr lang="es-CO" dirty="0"/>
              <a:t>(fila)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353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Archivos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809874"/>
            <a:ext cx="7955280" cy="3453765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Estructura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jerárquica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Librería</a:t>
            </a:r>
            <a:r>
              <a:rPr dirty="0"/>
              <a:t> </a:t>
            </a:r>
            <a:r>
              <a:rPr dirty="0" err="1"/>
              <a:t>estándar</a:t>
            </a:r>
            <a:r>
              <a:rPr dirty="0"/>
              <a:t> json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Funciones</a:t>
            </a:r>
            <a:r>
              <a:rPr dirty="0"/>
              <a:t>: dump, load, dumps, loads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práctico</a:t>
            </a:r>
            <a:r>
              <a:rPr lang="es-CO" dirty="0"/>
              <a:t> – JSON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971674"/>
            <a:ext cx="7955280" cy="4762501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b="1" dirty="0" err="1"/>
              <a:t>Guardar</a:t>
            </a:r>
            <a:r>
              <a:rPr b="1" dirty="0"/>
              <a:t> un </a:t>
            </a:r>
            <a:r>
              <a:rPr b="1" dirty="0" err="1"/>
              <a:t>diccionario</a:t>
            </a:r>
            <a:r>
              <a:rPr b="1" dirty="0"/>
              <a:t> </a:t>
            </a:r>
            <a:r>
              <a:rPr b="1" dirty="0" err="1"/>
              <a:t>en</a:t>
            </a:r>
            <a:r>
              <a:rPr b="1" dirty="0"/>
              <a:t> un </a:t>
            </a:r>
            <a:r>
              <a:rPr b="1" dirty="0" err="1"/>
              <a:t>archivo</a:t>
            </a:r>
            <a:r>
              <a:rPr b="1" dirty="0"/>
              <a:t> JSON y </a:t>
            </a:r>
            <a:r>
              <a:rPr b="1" dirty="0" err="1"/>
              <a:t>leerlo</a:t>
            </a:r>
            <a:r>
              <a:rPr dirty="0"/>
              <a:t>.</a:t>
            </a:r>
            <a:endParaRPr lang="es-MX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/>
              <a:t># ejemplo_json.py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 err="1"/>
              <a:t>import</a:t>
            </a:r>
            <a:r>
              <a:rPr lang="es-CO" dirty="0"/>
              <a:t> </a:t>
            </a:r>
            <a:r>
              <a:rPr lang="es-CO" dirty="0" err="1"/>
              <a:t>json</a:t>
            </a:r>
            <a:endParaRPr lang="es-CO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CO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/>
              <a:t># Diccionario de datos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/>
              <a:t>robot =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/>
              <a:t>    "id": "R1",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/>
              <a:t>    "tipo": "Explorador",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/>
              <a:t>    "</a:t>
            </a:r>
            <a:r>
              <a:rPr lang="es-CO" dirty="0" err="1"/>
              <a:t>posicion</a:t>
            </a:r>
            <a:r>
              <a:rPr lang="es-CO" dirty="0"/>
              <a:t>": {"x": 0, "y": 0},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/>
              <a:t>    "</a:t>
            </a:r>
            <a:r>
              <a:rPr lang="es-CO" dirty="0" err="1"/>
              <a:t>energia</a:t>
            </a:r>
            <a:r>
              <a:rPr lang="es-CO" dirty="0"/>
              <a:t>": 100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CO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/>
              <a:t># Guardar JSON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 err="1"/>
              <a:t>with</a:t>
            </a:r>
            <a:r>
              <a:rPr lang="es-CO" dirty="0"/>
              <a:t> open("</a:t>
            </a:r>
            <a:r>
              <a:rPr lang="es-CO" dirty="0" err="1"/>
              <a:t>robot.json</a:t>
            </a:r>
            <a:r>
              <a:rPr lang="es-CO" dirty="0"/>
              <a:t>", "w", </a:t>
            </a:r>
            <a:r>
              <a:rPr lang="es-CO" dirty="0" err="1"/>
              <a:t>encoding</a:t>
            </a:r>
            <a:r>
              <a:rPr lang="es-CO" dirty="0"/>
              <a:t>="utf-8") as f: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/>
              <a:t>    </a:t>
            </a:r>
            <a:r>
              <a:rPr lang="es-CO" dirty="0" err="1"/>
              <a:t>json.dump</a:t>
            </a:r>
            <a:r>
              <a:rPr lang="es-CO" dirty="0"/>
              <a:t>(robot, f, </a:t>
            </a:r>
            <a:r>
              <a:rPr lang="es-CO" dirty="0" err="1"/>
              <a:t>indent</a:t>
            </a:r>
            <a:r>
              <a:rPr lang="es-CO" dirty="0"/>
              <a:t>=4)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CO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/>
              <a:t># Leer JSON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 err="1"/>
              <a:t>with</a:t>
            </a:r>
            <a:r>
              <a:rPr lang="es-CO" dirty="0"/>
              <a:t> open("</a:t>
            </a:r>
            <a:r>
              <a:rPr lang="es-CO" dirty="0" err="1"/>
              <a:t>robot.json</a:t>
            </a:r>
            <a:r>
              <a:rPr lang="es-CO" dirty="0"/>
              <a:t>", "r", </a:t>
            </a:r>
            <a:r>
              <a:rPr lang="es-CO" dirty="0" err="1"/>
              <a:t>encoding</a:t>
            </a:r>
            <a:r>
              <a:rPr lang="es-CO" dirty="0"/>
              <a:t>="utf-8") as f: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/>
              <a:t>    datos = </a:t>
            </a:r>
            <a:r>
              <a:rPr lang="es-CO" dirty="0" err="1"/>
              <a:t>json.load</a:t>
            </a:r>
            <a:r>
              <a:rPr lang="es-CO" dirty="0"/>
              <a:t>(f)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CO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CO" dirty="0" err="1"/>
              <a:t>print</a:t>
            </a:r>
            <a:r>
              <a:rPr lang="es-CO" dirty="0"/>
              <a:t>("Robot cargado:", datos)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resumen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695574"/>
            <a:ext cx="7955280" cy="3568065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Texto</a:t>
            </a:r>
            <a:r>
              <a:rPr dirty="0"/>
              <a:t> → </a:t>
            </a:r>
            <a:r>
              <a:rPr dirty="0" err="1"/>
              <a:t>datos</a:t>
            </a:r>
            <a:r>
              <a:rPr dirty="0"/>
              <a:t> simples</a:t>
            </a:r>
          </a:p>
          <a:p>
            <a:pPr marL="0" indent="0">
              <a:buNone/>
            </a:pPr>
            <a:r>
              <a:rPr dirty="0"/>
              <a:t>• CSV → </a:t>
            </a:r>
            <a:r>
              <a:rPr dirty="0" err="1"/>
              <a:t>tablas</a:t>
            </a:r>
            <a:endParaRPr dirty="0"/>
          </a:p>
          <a:p>
            <a:pPr marL="0" indent="0">
              <a:buNone/>
            </a:pPr>
            <a:r>
              <a:rPr dirty="0"/>
              <a:t>• JSON → </a:t>
            </a:r>
            <a:r>
              <a:rPr dirty="0" err="1"/>
              <a:t>estructuras</a:t>
            </a:r>
            <a:r>
              <a:rPr dirty="0"/>
              <a:t> </a:t>
            </a:r>
            <a:r>
              <a:rPr dirty="0" err="1"/>
              <a:t>complejas</a:t>
            </a:r>
            <a:endParaRPr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dirty="0" err="1"/>
              <a:t>Pregunta</a:t>
            </a:r>
            <a:r>
              <a:rPr dirty="0"/>
              <a:t>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formato</a:t>
            </a:r>
            <a:r>
              <a:rPr dirty="0"/>
              <a:t> </a:t>
            </a:r>
            <a:r>
              <a:rPr dirty="0" err="1"/>
              <a:t>usarías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caso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Minitaller en Python – Robots Exploradores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POO • Archivos JSON • Pensamiento lógico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del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Una empresa quiere registrar y controlar robots exploradores.</a:t>
            </a:r>
          </a:p>
          <a:p>
            <a:endParaRPr/>
          </a:p>
          <a:p>
            <a:r>
              <a:t>Cada robot debe:</a:t>
            </a:r>
          </a:p>
          <a:p>
            <a:r>
              <a:t>• Tener un ID y un tipo</a:t>
            </a:r>
          </a:p>
          <a:p>
            <a:r>
              <a:t>• Guardar posición en un tablero (x,y)</a:t>
            </a:r>
          </a:p>
          <a:p>
            <a:r>
              <a:t>• Controlar su nivel de energía</a:t>
            </a:r>
          </a:p>
          <a:p>
            <a:r>
              <a:t>• Poder moverse y cargarse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taller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Crear una clase Robot en Python</a:t>
            </a:r>
          </a:p>
          <a:p>
            <a:r>
              <a:t>2. Implementar métodos mover y cargar</a:t>
            </a:r>
          </a:p>
          <a:p>
            <a:r>
              <a:t>3. Guardar varios robots en un archivo JSON</a:t>
            </a:r>
          </a:p>
          <a:p>
            <a:r>
              <a:t>4. Leer el archivo y mostrar datos</a:t>
            </a:r>
          </a:p>
          <a:p>
            <a:r>
              <a:t>5. Opcional: Visualizar robots en Streamlit/Tkinter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25A9C-7394-4BB9-A876-1D34CA9C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AD8303-296D-4BA7-BD8D-367CAFF9CE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4361" y="2659440"/>
            <a:ext cx="795528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Enunciado del problema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Una empresa de ingeniería quiere registrar sus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robots exploradores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Cada robot tiene: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Identificador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Tipo (industrial, explorador, asistente)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Posición en el tablero (x, 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Nivel de energía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requiere: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281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1: Definir la clase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Atributos: id, tipo, x, y, energía</a:t>
            </a:r>
          </a:p>
          <a:p>
            <a:r>
              <a:t>• Constructor (__init__)</a:t>
            </a:r>
          </a:p>
          <a:p>
            <a:r>
              <a:t>• Método __str__ para mostrar info clara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2: Métodos mover y cargar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mover(dx,dy): cambia posición si energía &gt; 0</a:t>
            </a:r>
          </a:p>
          <a:p>
            <a:r>
              <a:t>• cargar(cantidad): incrementa energía</a:t>
            </a:r>
          </a:p>
          <a:p>
            <a:r>
              <a:t>• Reducir energía cada vez que se mueve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3: Guardar robots en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Crear una lista de robots</a:t>
            </a:r>
          </a:p>
          <a:p>
            <a:r>
              <a:t>• Convertir cada robot a diccionario con __dict__</a:t>
            </a:r>
          </a:p>
          <a:p>
            <a:r>
              <a:t>• Usar json.dump para guardar en robots.json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4: Leer robots desde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Abrir el archivo con json.load</a:t>
            </a:r>
          </a:p>
          <a:p>
            <a:r>
              <a:t>• Mostrar datos de cada robot</a:t>
            </a:r>
          </a:p>
          <a:p>
            <a:r>
              <a:t>• Verificar que coincidan con los guardados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Reto adicional (opcional)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Mostrar los robots en una interfaz gráfica</a:t>
            </a:r>
          </a:p>
          <a:p>
            <a:r>
              <a:t>  – Tkinter: lista con información</a:t>
            </a:r>
          </a:p>
          <a:p>
            <a:r>
              <a:t>  – Streamlit: tabla con posiciones</a:t>
            </a:r>
          </a:p>
          <a:p>
            <a:r>
              <a:t>• Pensar cómo actualizar la vista al mover robots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 y reflexión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 aplicó POO con clases y métodos</a:t>
            </a:r>
          </a:p>
          <a:p>
            <a:r>
              <a:t>• Se usaron archivos JSON para persistencia</a:t>
            </a:r>
          </a:p>
          <a:p>
            <a:r>
              <a:t>• Se resolvió un problema de control de robots</a:t>
            </a:r>
          </a:p>
          <a:p>
            <a:endParaRPr/>
          </a:p>
          <a:p>
            <a:r>
              <a:t>Pregunta: ¿Cómo extenderías este sistema</a:t>
            </a:r>
          </a:p>
          <a:p>
            <a:r>
              <a:t>para controlar un robot real con Arduino?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Manejo de Excepciones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• Permiten controlar errores en tiempo de ejecución</a:t>
            </a:r>
          </a:p>
          <a:p>
            <a:r>
              <a:t>• Se usa la estructura try - except - finally</a:t>
            </a:r>
          </a:p>
          <a:p>
            <a:endParaRPr/>
          </a:p>
          <a:p>
            <a:r>
              <a:t>Ejemplos comunes:</a:t>
            </a:r>
          </a:p>
          <a:p>
            <a:r>
              <a:t>• FileNotFoundError → Archivo no existe</a:t>
            </a:r>
          </a:p>
          <a:p>
            <a:r>
              <a:t>• ValueError → Conversión de datos inválida</a:t>
            </a:r>
          </a:p>
          <a:p>
            <a:r>
              <a:t>• IndexError → Acceso fuera de rango en listas</a:t>
            </a:r>
          </a:p>
          <a:p>
            <a:r>
              <a:t>• ZeroDivisionError → División entre cero</a:t>
            </a:r>
          </a:p>
          <a:p>
            <a:endParaRPr/>
          </a:p>
          <a:p>
            <a:r>
              <a:t>✔ Importante: el programa continúa sin detenerse abruptamente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BDBC4-8093-491E-9F0F-CC0F87A3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Excepciones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79CB93-50EE-4DDC-B08F-163F0F13F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try:</a:t>
            </a:r>
          </a:p>
          <a:p>
            <a:pPr marL="0" indent="0">
              <a:buNone/>
            </a:pPr>
            <a:r>
              <a:rPr lang="es-MX" dirty="0"/>
              <a:t>    # código que puede fallar</a:t>
            </a:r>
          </a:p>
          <a:p>
            <a:pPr marL="0" indent="0">
              <a:buNone/>
            </a:pPr>
            <a:r>
              <a:rPr lang="es-MX" dirty="0" err="1"/>
              <a:t>except</a:t>
            </a:r>
            <a:r>
              <a:rPr lang="es-MX" dirty="0"/>
              <a:t> </a:t>
            </a:r>
            <a:r>
              <a:rPr lang="es-MX" dirty="0" err="1"/>
              <a:t>TipoDeError</a:t>
            </a:r>
            <a:r>
              <a:rPr lang="es-MX" dirty="0"/>
              <a:t>:</a:t>
            </a:r>
          </a:p>
          <a:p>
            <a:pPr marL="0" indent="0">
              <a:buNone/>
            </a:pPr>
            <a:r>
              <a:rPr lang="es-MX" dirty="0"/>
              <a:t>    # qué hacer si ocurre ese error</a:t>
            </a:r>
          </a:p>
          <a:p>
            <a:pPr marL="0" indent="0">
              <a:buNone/>
            </a:pPr>
            <a:r>
              <a:rPr lang="es-MX" dirty="0" err="1"/>
              <a:t>finally</a:t>
            </a:r>
            <a:r>
              <a:rPr lang="es-MX" dirty="0"/>
              <a:t>:</a:t>
            </a:r>
          </a:p>
          <a:p>
            <a:pPr marL="0" indent="0">
              <a:buNone/>
            </a:pPr>
            <a:r>
              <a:rPr lang="es-MX" dirty="0"/>
              <a:t>    # (opcional) código que siempre se ejecuta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32559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63060-ED10-4D79-8CCF-6722D462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8F0EB4-8F66-4CEA-848D-33D047E7F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try:</a:t>
            </a:r>
          </a:p>
          <a:p>
            <a:pPr marL="0" indent="0">
              <a:buNone/>
            </a:pPr>
            <a:r>
              <a:rPr lang="es-MX" dirty="0"/>
              <a:t>    numero = </a:t>
            </a:r>
            <a:r>
              <a:rPr lang="es-MX" dirty="0" err="1"/>
              <a:t>int</a:t>
            </a:r>
            <a:r>
              <a:rPr lang="es-MX" dirty="0"/>
              <a:t>(input("Ingresa un número: "))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print</a:t>
            </a:r>
            <a:r>
              <a:rPr lang="es-MX" dirty="0"/>
              <a:t>("El doble es:", numero * 2)</a:t>
            </a:r>
          </a:p>
          <a:p>
            <a:pPr marL="0" indent="0">
              <a:buNone/>
            </a:pPr>
            <a:r>
              <a:rPr lang="es-MX" dirty="0" err="1"/>
              <a:t>except</a:t>
            </a:r>
            <a:r>
              <a:rPr lang="es-MX" dirty="0"/>
              <a:t> </a:t>
            </a:r>
            <a:r>
              <a:rPr lang="es-MX" dirty="0" err="1"/>
              <a:t>ValueError</a:t>
            </a:r>
            <a:r>
              <a:rPr lang="es-MX" dirty="0"/>
              <a:t>: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print</a:t>
            </a:r>
            <a:r>
              <a:rPr lang="es-MX" dirty="0"/>
              <a:t>("Error: debes ingresar un número entero válido.")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85906208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952</Words>
  <Application>Microsoft Office PowerPoint</Application>
  <PresentationFormat>On-screen Show (4:3)</PresentationFormat>
  <Paragraphs>162</Paragraphs>
  <Slides>24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Century Gothic</vt:lpstr>
      <vt:lpstr>Estela de condensación</vt:lpstr>
      <vt:lpstr>Programación en Python – Manejo de Archivos</vt:lpstr>
      <vt:lpstr>Motivación</vt:lpstr>
      <vt:lpstr>Operaciones básicas con archivos</vt:lpstr>
      <vt:lpstr>Leer archivos</vt:lpstr>
      <vt:lpstr>Escribir archivos</vt:lpstr>
      <vt:lpstr>Ejemplo práctico – Texto plano</vt:lpstr>
      <vt:lpstr>Archivos CSV</vt:lpstr>
      <vt:lpstr>ejemplo</vt:lpstr>
      <vt:lpstr>Archivos JSON</vt:lpstr>
      <vt:lpstr>Ejemplo práctico – JSON</vt:lpstr>
      <vt:lpstr>resumen</vt:lpstr>
      <vt:lpstr>Minitaller en Python – Robots Exploradores</vt:lpstr>
      <vt:lpstr>Contexto del problema</vt:lpstr>
      <vt:lpstr>Objetivos del taller</vt:lpstr>
      <vt:lpstr>PowerPoint Presentation</vt:lpstr>
      <vt:lpstr>Paso 1: Definir la clase Robot</vt:lpstr>
      <vt:lpstr>Paso 2: Métodos mover y cargar</vt:lpstr>
      <vt:lpstr>Paso 3: Guardar robots en JSON</vt:lpstr>
      <vt:lpstr>Paso 4: Leer robots desde JSON</vt:lpstr>
      <vt:lpstr>Reto adicional (opcional)</vt:lpstr>
      <vt:lpstr>Cierre y reflexión</vt:lpstr>
      <vt:lpstr>Manejo de Excepciones en Python</vt:lpstr>
      <vt:lpstr>Excepciones</vt:lpstr>
      <vt:lpstr>Ejemplo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en Python – Manejo de Archivos</dc:title>
  <dc:creator>CLAUDIA ISABEL CACERES BECERRA</dc:creator>
  <cp:lastModifiedBy>word</cp:lastModifiedBy>
  <cp:revision>4</cp:revision>
  <dcterms:created xsi:type="dcterms:W3CDTF">2025-09-17T13:51:54Z</dcterms:created>
  <dcterms:modified xsi:type="dcterms:W3CDTF">2025-09-24T14:16:09Z</dcterms:modified>
</cp:coreProperties>
</file>