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Merriweather" panose="020B0604020202020204" charset="0"/>
      <p:regular r:id="rId8"/>
    </p:embeddedFont>
    <p:embeddedFont>
      <p:font typeface="Consolas" panose="020B0609020204030204" pitchFamily="49" charset="0"/>
      <p:regular r:id="rId9"/>
      <p:bold r:id="rId10"/>
      <p:italic r:id="rId11"/>
      <p:boldItalic r:id="rId12"/>
    </p:embeddedFont>
    <p:embeddedFont>
      <p:font typeface="Calibri" panose="020F0502020204030204" pitchFamily="34" charset="0"/>
      <p:regular r:id="rId13"/>
      <p:bold r:id="rId14"/>
      <p:italic r:id="rId15"/>
      <p:boldItalic r:id="rId16"/>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5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520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1774508"/>
            <a:ext cx="7416403" cy="1349692"/>
          </a:xfrm>
          <a:prstGeom prst="rect">
            <a:avLst/>
          </a:prstGeom>
          <a:noFill/>
          <a:ln/>
        </p:spPr>
        <p:txBody>
          <a:bodyPr wrap="square" lIns="0" tIns="0" rIns="0" bIns="0" rtlCol="0" anchor="t"/>
          <a:lstStyle/>
          <a:p>
            <a:pPr marL="0" indent="0" algn="l">
              <a:lnSpc>
                <a:spcPts val="5300"/>
              </a:lnSpc>
              <a:buNone/>
            </a:pPr>
            <a:r>
              <a:rPr lang="en-US" sz="4250" dirty="0">
                <a:solidFill>
                  <a:srgbClr val="F5F0F0"/>
                </a:solidFill>
                <a:latin typeface="Merriweather" pitchFamily="34" charset="0"/>
                <a:ea typeface="Merriweather" pitchFamily="34" charset="-122"/>
                <a:cs typeface="Merriweather" pitchFamily="34" charset="-120"/>
              </a:rPr>
              <a:t>Sobrecarga y Sobreescritura en Python</a:t>
            </a:r>
            <a:endParaRPr lang="en-US" sz="4250" dirty="0"/>
          </a:p>
        </p:txBody>
      </p:sp>
      <p:sp>
        <p:nvSpPr>
          <p:cNvPr id="4" name="Text 1"/>
          <p:cNvSpPr/>
          <p:nvPr/>
        </p:nvSpPr>
        <p:spPr>
          <a:xfrm>
            <a:off x="863798" y="3448050"/>
            <a:ext cx="7416403" cy="1382078"/>
          </a:xfrm>
          <a:prstGeom prst="rect">
            <a:avLst/>
          </a:prstGeom>
          <a:noFill/>
          <a:ln/>
        </p:spPr>
        <p:txBody>
          <a:bodyPr wrap="square" lIns="0" tIns="0" rIns="0" bIns="0" rtlCol="0" anchor="t"/>
          <a:lstStyle/>
          <a:p>
            <a:pPr marL="0" indent="0" algn="l">
              <a:lnSpc>
                <a:spcPts val="2700"/>
              </a:lnSpc>
              <a:buNone/>
            </a:pPr>
            <a:r>
              <a:rPr lang="en-US" sz="2400" dirty="0">
                <a:solidFill>
                  <a:srgbClr val="E2E6E9"/>
                </a:solidFill>
                <a:ea typeface="Merriweather" pitchFamily="34" charset="-122"/>
                <a:cs typeface="Merriweather" pitchFamily="34" charset="-120"/>
              </a:rPr>
              <a:t>En la programación orientada a objetos, la sobrecarga y sobreescritura son conceptos fundamentales que nos permiten crear código más flexible y reutilizable. Aunque estos términos pueden sonar similares, representan técnicas diferentes con propósitos específicos.</a:t>
            </a:r>
            <a:endParaRPr lang="en-US" sz="2400" dirty="0"/>
          </a:p>
        </p:txBody>
      </p:sp>
      <p:sp>
        <p:nvSpPr>
          <p:cNvPr id="5" name="Text 2"/>
          <p:cNvSpPr/>
          <p:nvPr/>
        </p:nvSpPr>
        <p:spPr>
          <a:xfrm>
            <a:off x="863797" y="5632412"/>
            <a:ext cx="7416403" cy="1382078"/>
          </a:xfrm>
          <a:prstGeom prst="rect">
            <a:avLst/>
          </a:prstGeom>
          <a:noFill/>
          <a:ln/>
        </p:spPr>
        <p:txBody>
          <a:bodyPr wrap="square" lIns="0" tIns="0" rIns="0" bIns="0" rtlCol="0" anchor="t"/>
          <a:lstStyle/>
          <a:p>
            <a:pPr marL="0" indent="0" algn="l">
              <a:lnSpc>
                <a:spcPts val="2700"/>
              </a:lnSpc>
              <a:buNone/>
            </a:pPr>
            <a:r>
              <a:rPr lang="en-US" sz="2400" dirty="0">
                <a:solidFill>
                  <a:srgbClr val="E2E6E9"/>
                </a:solidFill>
                <a:ea typeface="Merriweather" pitchFamily="34" charset="-122"/>
                <a:cs typeface="Merriweather" pitchFamily="34" charset="-120"/>
              </a:rPr>
              <a:t>En esta presentación exploraremos cómo Python maneja estos conceptos, sus diferencias con el polimorfismo, y veremos ejemplos prácticos que ilustran su implementación y beneficios en el desarrollo de software.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4097" y="1093759"/>
            <a:ext cx="2883575" cy="337304"/>
          </a:xfrm>
          <a:prstGeom prst="rect">
            <a:avLst/>
          </a:prstGeom>
          <a:noFill/>
          <a:ln/>
        </p:spPr>
        <p:txBody>
          <a:bodyPr wrap="none" lIns="0" tIns="0" rIns="0" bIns="0" rtlCol="0" anchor="t"/>
          <a:lstStyle/>
          <a:p>
            <a:pPr marL="0" indent="0" algn="l">
              <a:lnSpc>
                <a:spcPts val="2650"/>
              </a:lnSpc>
              <a:buNone/>
            </a:pPr>
            <a:r>
              <a:rPr lang="en-US" sz="3200" b="1" dirty="0">
                <a:solidFill>
                  <a:srgbClr val="F5F0F0"/>
                </a:solidFill>
                <a:latin typeface="Calibri (Cuerpo)"/>
                <a:ea typeface="Merriweather" pitchFamily="34" charset="-122"/>
                <a:cs typeface="Merriweather" pitchFamily="34" charset="-120"/>
              </a:rPr>
              <a:t>¿Qué es la Sobrecarga?</a:t>
            </a:r>
            <a:endParaRPr lang="en-US" sz="3200" b="1" dirty="0">
              <a:latin typeface="Calibri (Cuerpo)"/>
            </a:endParaRPr>
          </a:p>
        </p:txBody>
      </p:sp>
      <p:sp>
        <p:nvSpPr>
          <p:cNvPr id="3" name="Text 1"/>
          <p:cNvSpPr/>
          <p:nvPr/>
        </p:nvSpPr>
        <p:spPr>
          <a:xfrm>
            <a:off x="362233" y="1996305"/>
            <a:ext cx="1619726" cy="202406"/>
          </a:xfrm>
          <a:prstGeom prst="rect">
            <a:avLst/>
          </a:prstGeom>
          <a:noFill/>
          <a:ln/>
        </p:spPr>
        <p:txBody>
          <a:bodyPr wrap="none" lIns="0" tIns="0" rIns="0" bIns="0" rtlCol="0" anchor="t"/>
          <a:lstStyle/>
          <a:p>
            <a:pPr marL="0" indent="0" algn="l">
              <a:lnSpc>
                <a:spcPts val="1550"/>
              </a:lnSpc>
              <a:buNone/>
            </a:pPr>
            <a:r>
              <a:rPr lang="en-US" sz="2400" dirty="0">
                <a:solidFill>
                  <a:srgbClr val="F5F0F0"/>
                </a:solidFill>
                <a:latin typeface="Calibri (Cuerpo)"/>
                <a:ea typeface="Merriweather" pitchFamily="34" charset="-122"/>
                <a:cs typeface="Merriweather" pitchFamily="34" charset="-120"/>
              </a:rPr>
              <a:t>Concepto General</a:t>
            </a:r>
            <a:endParaRPr lang="en-US" sz="2400" dirty="0">
              <a:latin typeface="Calibri (Cuerpo)"/>
            </a:endParaRPr>
          </a:p>
        </p:txBody>
      </p:sp>
      <p:sp>
        <p:nvSpPr>
          <p:cNvPr id="4" name="Text 2"/>
          <p:cNvSpPr/>
          <p:nvPr/>
        </p:nvSpPr>
        <p:spPr>
          <a:xfrm>
            <a:off x="362233" y="2388214"/>
            <a:ext cx="6751677" cy="518279"/>
          </a:xfrm>
          <a:prstGeom prst="rect">
            <a:avLst/>
          </a:prstGeom>
          <a:noFill/>
          <a:ln/>
        </p:spPr>
        <p:txBody>
          <a:bodyPr wrap="square" lIns="0" tIns="0" rIns="0" bIns="0" rtlCol="0" anchor="t"/>
          <a:lstStyle/>
          <a:p>
            <a:pPr marL="0" indent="0" algn="l">
              <a:buNone/>
            </a:pPr>
            <a:r>
              <a:rPr lang="en-US" sz="2400" dirty="0">
                <a:solidFill>
                  <a:srgbClr val="E2E6E9"/>
                </a:solidFill>
                <a:latin typeface="Calibri (Cuerpo)"/>
                <a:ea typeface="Merriweather" pitchFamily="34" charset="-122"/>
                <a:cs typeface="Merriweather" pitchFamily="34" charset="-120"/>
              </a:rPr>
              <a:t>En muchos lenguajes de programación, la sobrecarga permite definir varios métodos con el mismo nombre pero diferentes firmas (parámetros). Esto proporciona flexibilidad al permitir que un método se comporte de manera diferente según los argumentos que reciba.</a:t>
            </a:r>
            <a:endParaRPr lang="en-US" sz="2400" dirty="0">
              <a:latin typeface="Calibri (Cuerpo)"/>
            </a:endParaRPr>
          </a:p>
        </p:txBody>
      </p:sp>
      <p:sp>
        <p:nvSpPr>
          <p:cNvPr id="5" name="Text 3"/>
          <p:cNvSpPr/>
          <p:nvPr/>
        </p:nvSpPr>
        <p:spPr>
          <a:xfrm>
            <a:off x="362233" y="4754158"/>
            <a:ext cx="2125266" cy="202406"/>
          </a:xfrm>
          <a:prstGeom prst="rect">
            <a:avLst/>
          </a:prstGeom>
          <a:noFill/>
          <a:ln/>
        </p:spPr>
        <p:txBody>
          <a:bodyPr wrap="none" lIns="0" tIns="0" rIns="0" bIns="0" rtlCol="0" anchor="t"/>
          <a:lstStyle/>
          <a:p>
            <a:pPr marL="0" indent="0" algn="l">
              <a:lnSpc>
                <a:spcPts val="1550"/>
              </a:lnSpc>
              <a:buNone/>
            </a:pPr>
            <a:r>
              <a:rPr lang="en-US" sz="2400" dirty="0">
                <a:solidFill>
                  <a:srgbClr val="F5F0F0"/>
                </a:solidFill>
                <a:latin typeface="Calibri (Cuerpo)"/>
                <a:ea typeface="Merriweather" pitchFamily="34" charset="-122"/>
                <a:cs typeface="Merriweather" pitchFamily="34" charset="-120"/>
              </a:rPr>
              <a:t>Implementación en Python</a:t>
            </a:r>
            <a:endParaRPr lang="en-US" sz="2400" dirty="0">
              <a:latin typeface="Calibri (Cuerpo)"/>
            </a:endParaRPr>
          </a:p>
        </p:txBody>
      </p:sp>
      <p:sp>
        <p:nvSpPr>
          <p:cNvPr id="6" name="Text 4"/>
          <p:cNvSpPr/>
          <p:nvPr/>
        </p:nvSpPr>
        <p:spPr>
          <a:xfrm>
            <a:off x="362232" y="5339160"/>
            <a:ext cx="6751677" cy="345519"/>
          </a:xfrm>
          <a:prstGeom prst="rect">
            <a:avLst/>
          </a:prstGeom>
          <a:noFill/>
          <a:ln/>
        </p:spPr>
        <p:txBody>
          <a:bodyPr wrap="square" lIns="0" tIns="0" rIns="0" bIns="0" rtlCol="0" anchor="t"/>
          <a:lstStyle/>
          <a:p>
            <a:pPr marL="0" indent="0" algn="l">
              <a:buNone/>
            </a:pPr>
            <a:r>
              <a:rPr lang="en-US" sz="2400" dirty="0">
                <a:solidFill>
                  <a:srgbClr val="E2E6E9"/>
                </a:solidFill>
                <a:latin typeface="Calibri (Cuerpo)"/>
                <a:ea typeface="Merriweather" pitchFamily="34" charset="-122"/>
                <a:cs typeface="Merriweather" pitchFamily="34" charset="-120"/>
              </a:rPr>
              <a:t>Python no soporta sobrecarga estricta como Java o C++, pero podemos simularla usando técnicas específicas que aprovechan la flexibilidad del lenguaje.</a:t>
            </a:r>
            <a:endParaRPr lang="en-US" sz="2400" dirty="0">
              <a:latin typeface="Calibri (Cuerpo)"/>
            </a:endParaRPr>
          </a:p>
        </p:txBody>
      </p:sp>
      <p:pic>
        <p:nvPicPr>
          <p:cNvPr id="7" name="Image 0" descr="preencoded.png"/>
          <p:cNvPicPr>
            <a:picLocks noChangeAspect="1"/>
          </p:cNvPicPr>
          <p:nvPr/>
        </p:nvPicPr>
        <p:blipFill>
          <a:blip r:embed="rId3"/>
          <a:stretch>
            <a:fillRect/>
          </a:stretch>
        </p:blipFill>
        <p:spPr>
          <a:xfrm>
            <a:off x="10611712" y="67990"/>
            <a:ext cx="4018688" cy="4018688"/>
          </a:xfrm>
          <a:prstGeom prst="rect">
            <a:avLst/>
          </a:prstGeom>
        </p:spPr>
      </p:pic>
      <p:sp>
        <p:nvSpPr>
          <p:cNvPr id="8" name="Shape 5"/>
          <p:cNvSpPr/>
          <p:nvPr/>
        </p:nvSpPr>
        <p:spPr>
          <a:xfrm>
            <a:off x="362232" y="6789589"/>
            <a:ext cx="6829425" cy="637223"/>
          </a:xfrm>
          <a:prstGeom prst="roundRect">
            <a:avLst>
              <a:gd name="adj" fmla="val 7118"/>
            </a:avLst>
          </a:prstGeom>
          <a:solidFill>
            <a:srgbClr val="003180"/>
          </a:solidFill>
          <a:ln w="7620">
            <a:solidFill>
              <a:srgbClr val="194A99"/>
            </a:solidFill>
            <a:prstDash val="solid"/>
          </a:ln>
        </p:spPr>
      </p:sp>
      <p:sp>
        <p:nvSpPr>
          <p:cNvPr id="9" name="Text 6"/>
          <p:cNvSpPr/>
          <p:nvPr/>
        </p:nvSpPr>
        <p:spPr>
          <a:xfrm>
            <a:off x="477722" y="6905080"/>
            <a:ext cx="1531025" cy="168712"/>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erriweather" pitchFamily="34" charset="0"/>
                <a:ea typeface="Merriweather" pitchFamily="34" charset="-122"/>
                <a:cs typeface="Merriweather" pitchFamily="34" charset="-120"/>
              </a:rPr>
              <a:t>Parámetros por Defecto</a:t>
            </a:r>
            <a:endParaRPr lang="en-US" sz="1050" dirty="0"/>
          </a:p>
        </p:txBody>
      </p:sp>
      <p:sp>
        <p:nvSpPr>
          <p:cNvPr id="10" name="Text 7"/>
          <p:cNvSpPr/>
          <p:nvPr/>
        </p:nvSpPr>
        <p:spPr>
          <a:xfrm>
            <a:off x="477722" y="7138562"/>
            <a:ext cx="6598444" cy="172760"/>
          </a:xfrm>
          <a:prstGeom prst="rect">
            <a:avLst/>
          </a:prstGeom>
          <a:noFill/>
          <a:ln/>
        </p:spPr>
        <p:txBody>
          <a:bodyPr wrap="none" lIns="0" tIns="0" rIns="0" bIns="0" rtlCol="0" anchor="t"/>
          <a:lstStyle/>
          <a:p>
            <a:pPr marL="0" indent="0" algn="l">
              <a:lnSpc>
                <a:spcPts val="1350"/>
              </a:lnSpc>
              <a:buNone/>
            </a:pPr>
            <a:r>
              <a:rPr lang="en-US" sz="850" dirty="0">
                <a:solidFill>
                  <a:srgbClr val="E2E6E9"/>
                </a:solidFill>
                <a:latin typeface="Merriweather" pitchFamily="34" charset="0"/>
                <a:ea typeface="Merriweather" pitchFamily="34" charset="-122"/>
                <a:cs typeface="Merriweather" pitchFamily="34" charset="-120"/>
              </a:rPr>
              <a:t>Utilizamos valores predeterminados para simular diferentes firmas de método.</a:t>
            </a:r>
            <a:endParaRPr lang="en-US" sz="850" dirty="0"/>
          </a:p>
        </p:txBody>
      </p:sp>
      <p:sp>
        <p:nvSpPr>
          <p:cNvPr id="11" name="Shape 8"/>
          <p:cNvSpPr/>
          <p:nvPr/>
        </p:nvSpPr>
        <p:spPr>
          <a:xfrm>
            <a:off x="7648834" y="6819950"/>
            <a:ext cx="6829425" cy="637223"/>
          </a:xfrm>
          <a:prstGeom prst="roundRect">
            <a:avLst>
              <a:gd name="adj" fmla="val 7118"/>
            </a:avLst>
          </a:prstGeom>
          <a:solidFill>
            <a:srgbClr val="003180"/>
          </a:solidFill>
          <a:ln w="7620">
            <a:solidFill>
              <a:srgbClr val="194A99"/>
            </a:solidFill>
            <a:prstDash val="solid"/>
          </a:ln>
        </p:spPr>
      </p:sp>
      <p:sp>
        <p:nvSpPr>
          <p:cNvPr id="12" name="Text 9"/>
          <p:cNvSpPr/>
          <p:nvPr/>
        </p:nvSpPr>
        <p:spPr>
          <a:xfrm>
            <a:off x="7925690" y="7054205"/>
            <a:ext cx="1349812" cy="168712"/>
          </a:xfrm>
          <a:prstGeom prst="rect">
            <a:avLst/>
          </a:prstGeom>
          <a:noFill/>
          <a:ln/>
        </p:spPr>
        <p:txBody>
          <a:bodyPr wrap="none" lIns="0" tIns="0" rIns="0" bIns="0" rtlCol="0" anchor="t"/>
          <a:lstStyle/>
          <a:p>
            <a:pPr marL="0" indent="0" algn="l">
              <a:lnSpc>
                <a:spcPts val="1300"/>
              </a:lnSpc>
              <a:buNone/>
            </a:pPr>
            <a:r>
              <a:rPr lang="en-US" sz="1050" dirty="0">
                <a:solidFill>
                  <a:srgbClr val="E2E6E9"/>
                </a:solidFill>
                <a:latin typeface="Merriweather" pitchFamily="34" charset="0"/>
                <a:ea typeface="Merriweather" pitchFamily="34" charset="-122"/>
                <a:cs typeface="Merriweather" pitchFamily="34" charset="-120"/>
              </a:rPr>
              <a:t>*args y **kwargs</a:t>
            </a:r>
            <a:endParaRPr lang="en-US" sz="1050" dirty="0"/>
          </a:p>
        </p:txBody>
      </p:sp>
      <p:sp>
        <p:nvSpPr>
          <p:cNvPr id="13" name="Text 10"/>
          <p:cNvSpPr/>
          <p:nvPr/>
        </p:nvSpPr>
        <p:spPr>
          <a:xfrm>
            <a:off x="7484626" y="8261152"/>
            <a:ext cx="6598444" cy="172760"/>
          </a:xfrm>
          <a:prstGeom prst="rect">
            <a:avLst/>
          </a:prstGeom>
          <a:noFill/>
          <a:ln/>
        </p:spPr>
        <p:txBody>
          <a:bodyPr wrap="none" lIns="0" tIns="0" rIns="0" bIns="0" rtlCol="0" anchor="t"/>
          <a:lstStyle/>
          <a:p>
            <a:pPr marL="0" indent="0" algn="l">
              <a:lnSpc>
                <a:spcPts val="1350"/>
              </a:lnSpc>
              <a:buNone/>
            </a:pPr>
            <a:r>
              <a:rPr lang="en-US" sz="850" dirty="0">
                <a:solidFill>
                  <a:srgbClr val="E2E6E9"/>
                </a:solidFill>
                <a:latin typeface="Merriweather" pitchFamily="34" charset="0"/>
                <a:ea typeface="Merriweather" pitchFamily="34" charset="-122"/>
                <a:cs typeface="Merriweather" pitchFamily="34" charset="-120"/>
              </a:rPr>
              <a:t>Permiten recibir un número variable de argumentos posicionales y nombrados.</a:t>
            </a:r>
            <a:endParaRPr lang="en-US" sz="850" dirty="0"/>
          </a:p>
        </p:txBody>
      </p:sp>
      <p:sp>
        <p:nvSpPr>
          <p:cNvPr id="14" name="Shape 11"/>
          <p:cNvSpPr/>
          <p:nvPr/>
        </p:nvSpPr>
        <p:spPr>
          <a:xfrm>
            <a:off x="431840" y="8670846"/>
            <a:ext cx="13766721" cy="1544002"/>
          </a:xfrm>
          <a:prstGeom prst="roundRect">
            <a:avLst>
              <a:gd name="adj" fmla="val 2938"/>
            </a:avLst>
          </a:prstGeom>
          <a:solidFill>
            <a:srgbClr val="162227"/>
          </a:solidFill>
          <a:ln/>
        </p:spPr>
      </p:sp>
      <p:sp>
        <p:nvSpPr>
          <p:cNvPr id="15" name="Shape 12"/>
          <p:cNvSpPr/>
          <p:nvPr/>
        </p:nvSpPr>
        <p:spPr>
          <a:xfrm>
            <a:off x="426482" y="8670846"/>
            <a:ext cx="13777436" cy="1544002"/>
          </a:xfrm>
          <a:prstGeom prst="roundRect">
            <a:avLst>
              <a:gd name="adj" fmla="val 1049"/>
            </a:avLst>
          </a:prstGeom>
          <a:solidFill>
            <a:srgbClr val="162227"/>
          </a:solidFill>
          <a:ln/>
        </p:spPr>
      </p:sp>
      <p:sp>
        <p:nvSpPr>
          <p:cNvPr id="16" name="Text 13"/>
          <p:cNvSpPr/>
          <p:nvPr/>
        </p:nvSpPr>
        <p:spPr>
          <a:xfrm>
            <a:off x="431840" y="7684919"/>
            <a:ext cx="13561695" cy="1382078"/>
          </a:xfrm>
          <a:prstGeom prst="rect">
            <a:avLst/>
          </a:prstGeom>
          <a:noFill/>
          <a:ln/>
        </p:spPr>
        <p:txBody>
          <a:bodyPr wrap="square" lIns="0" tIns="0" rIns="0" bIns="0" rtlCol="0" anchor="t"/>
          <a:lstStyle/>
          <a:p>
            <a:pPr marL="0" indent="0" algn="l">
              <a:lnSpc>
                <a:spcPts val="1350"/>
              </a:lnSpc>
              <a:buNone/>
            </a:pPr>
            <a:r>
              <a:rPr lang="en-US" sz="850" dirty="0">
                <a:solidFill>
                  <a:srgbClr val="E2E6E9"/>
                </a:solidFill>
                <a:highlight>
                  <a:srgbClr val="162227"/>
                </a:highlight>
                <a:latin typeface="Consolas" pitchFamily="34" charset="0"/>
                <a:ea typeface="Consolas" pitchFamily="34" charset="-122"/>
                <a:cs typeface="Consolas" pitchFamily="34" charset="-120"/>
              </a:rPr>
              <a:t>class Calculadora: def sumar(self, a, b, c=0): return a + b + ccalc = Calculadora()print(calc.sumar(2, 3)) # 5print(calc.sumar(2, 3, 4)) # 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4009" y="442793"/>
            <a:ext cx="4973479" cy="503158"/>
          </a:xfrm>
          <a:prstGeom prst="rect">
            <a:avLst/>
          </a:prstGeom>
          <a:noFill/>
          <a:ln/>
        </p:spPr>
        <p:txBody>
          <a:bodyPr wrap="none" lIns="0" tIns="0" rIns="0" bIns="0" rtlCol="0" anchor="t"/>
          <a:lstStyle/>
          <a:p>
            <a:pPr marL="0" indent="0" algn="l">
              <a:lnSpc>
                <a:spcPts val="3950"/>
              </a:lnSpc>
              <a:buNone/>
            </a:pPr>
            <a:r>
              <a:rPr lang="en-US" sz="3150" dirty="0">
                <a:solidFill>
                  <a:srgbClr val="F5F0F0"/>
                </a:solidFill>
                <a:latin typeface="Merriweather" pitchFamily="34" charset="0"/>
                <a:ea typeface="Merriweather" pitchFamily="34" charset="-122"/>
                <a:cs typeface="Merriweather" pitchFamily="34" charset="-120"/>
              </a:rPr>
              <a:t>¿Qué es la Sobreescritura?</a:t>
            </a:r>
            <a:endParaRPr lang="en-US" sz="3150" dirty="0"/>
          </a:p>
        </p:txBody>
      </p:sp>
      <p:sp>
        <p:nvSpPr>
          <p:cNvPr id="3" name="Text 1"/>
          <p:cNvSpPr/>
          <p:nvPr/>
        </p:nvSpPr>
        <p:spPr>
          <a:xfrm>
            <a:off x="644009" y="1187410"/>
            <a:ext cx="13342382" cy="515064"/>
          </a:xfrm>
          <a:prstGeom prst="rect">
            <a:avLst/>
          </a:prstGeom>
          <a:noFill/>
          <a:ln/>
        </p:spPr>
        <p:txBody>
          <a:bodyPr wrap="square" lIns="0" tIns="0" rIns="0" bIns="0" rtlCol="0" anchor="t"/>
          <a:lstStyle/>
          <a:p>
            <a:pPr marL="0" indent="0" algn="l">
              <a:lnSpc>
                <a:spcPts val="2000"/>
              </a:lnSpc>
              <a:buNone/>
            </a:pPr>
            <a:r>
              <a:rPr lang="en-US" sz="1250" dirty="0">
                <a:solidFill>
                  <a:srgbClr val="E2E6E9"/>
                </a:solidFill>
                <a:latin typeface="Merriweather" pitchFamily="34" charset="0"/>
                <a:ea typeface="Merriweather" pitchFamily="34" charset="-122"/>
                <a:cs typeface="Merriweather" pitchFamily="34" charset="-120"/>
              </a:rPr>
              <a:t>La sobreescritura es un mecanismo fundamental de la programación orientada a objetos que permite a una subclase redefinir un método heredado de su clase padre, manteniendo el mismo nombre pero cambiando su comportamiento específico.</a:t>
            </a:r>
            <a:endParaRPr lang="en-US" sz="1250" dirty="0"/>
          </a:p>
        </p:txBody>
      </p:sp>
      <p:sp>
        <p:nvSpPr>
          <p:cNvPr id="4" name="Text 2"/>
          <p:cNvSpPr/>
          <p:nvPr/>
        </p:nvSpPr>
        <p:spPr>
          <a:xfrm>
            <a:off x="644009" y="1883569"/>
            <a:ext cx="160973" cy="201216"/>
          </a:xfrm>
          <a:prstGeom prst="rect">
            <a:avLst/>
          </a:prstGeom>
          <a:noFill/>
          <a:ln/>
        </p:spPr>
        <p:txBody>
          <a:bodyPr wrap="none" lIns="0" tIns="0" rIns="0" bIns="0" rtlCol="0" anchor="t"/>
          <a:lstStyle/>
          <a:p>
            <a:pPr marL="0" indent="0" algn="l">
              <a:lnSpc>
                <a:spcPts val="2000"/>
              </a:lnSpc>
              <a:buNone/>
            </a:pPr>
            <a:r>
              <a:rPr lang="en-US" sz="1250" dirty="0">
                <a:solidFill>
                  <a:srgbClr val="E2E6E9"/>
                </a:solidFill>
                <a:latin typeface="Merriweather Light" pitchFamily="34" charset="0"/>
                <a:ea typeface="Merriweather Light" pitchFamily="34" charset="-122"/>
                <a:cs typeface="Merriweather Light" pitchFamily="34" charset="-120"/>
              </a:rPr>
              <a:t>01</a:t>
            </a:r>
            <a:endParaRPr lang="en-US" sz="1250" dirty="0"/>
          </a:p>
        </p:txBody>
      </p:sp>
      <p:sp>
        <p:nvSpPr>
          <p:cNvPr id="5" name="Shape 3"/>
          <p:cNvSpPr/>
          <p:nvPr/>
        </p:nvSpPr>
        <p:spPr>
          <a:xfrm>
            <a:off x="644009" y="2134314"/>
            <a:ext cx="4340066" cy="22860"/>
          </a:xfrm>
          <a:prstGeom prst="rect">
            <a:avLst/>
          </a:prstGeom>
          <a:solidFill>
            <a:srgbClr val="609DFF"/>
          </a:solidFill>
          <a:ln/>
        </p:spPr>
      </p:sp>
      <p:sp>
        <p:nvSpPr>
          <p:cNvPr id="6" name="Text 4"/>
          <p:cNvSpPr/>
          <p:nvPr/>
        </p:nvSpPr>
        <p:spPr>
          <a:xfrm>
            <a:off x="644009" y="2260521"/>
            <a:ext cx="2012633" cy="251460"/>
          </a:xfrm>
          <a:prstGeom prst="rect">
            <a:avLst/>
          </a:prstGeom>
          <a:noFill/>
          <a:ln/>
        </p:spPr>
        <p:txBody>
          <a:bodyPr wrap="none" lIns="0" tIns="0" rIns="0" bIns="0" rtlCol="0" anchor="t"/>
          <a:lstStyle/>
          <a:p>
            <a:pPr marL="0" indent="0" algn="l">
              <a:lnSpc>
                <a:spcPts val="1950"/>
              </a:lnSpc>
              <a:buNone/>
            </a:pPr>
            <a:r>
              <a:rPr lang="en-US" sz="1550" dirty="0">
                <a:solidFill>
                  <a:srgbClr val="E2E6E9"/>
                </a:solidFill>
                <a:latin typeface="Merriweather" pitchFamily="34" charset="0"/>
                <a:ea typeface="Merriweather" pitchFamily="34" charset="-122"/>
                <a:cs typeface="Merriweather" pitchFamily="34" charset="-120"/>
              </a:rPr>
              <a:t>Herencia</a:t>
            </a:r>
            <a:endParaRPr lang="en-US" sz="1550" dirty="0"/>
          </a:p>
        </p:txBody>
      </p:sp>
      <p:sp>
        <p:nvSpPr>
          <p:cNvPr id="7" name="Text 5"/>
          <p:cNvSpPr/>
          <p:nvPr/>
        </p:nvSpPr>
        <p:spPr>
          <a:xfrm>
            <a:off x="644009" y="2608540"/>
            <a:ext cx="4340066" cy="257532"/>
          </a:xfrm>
          <a:prstGeom prst="rect">
            <a:avLst/>
          </a:prstGeom>
          <a:noFill/>
          <a:ln/>
        </p:spPr>
        <p:txBody>
          <a:bodyPr wrap="none" lIns="0" tIns="0" rIns="0" bIns="0" rtlCol="0" anchor="t"/>
          <a:lstStyle/>
          <a:p>
            <a:pPr marL="0" indent="0" algn="l">
              <a:lnSpc>
                <a:spcPts val="2000"/>
              </a:lnSpc>
              <a:buNone/>
            </a:pPr>
            <a:r>
              <a:rPr lang="en-US" sz="1250" dirty="0">
                <a:solidFill>
                  <a:srgbClr val="E2E6E9"/>
                </a:solidFill>
                <a:latin typeface="Merriweather" pitchFamily="34" charset="0"/>
                <a:ea typeface="Merriweather" pitchFamily="34" charset="-122"/>
                <a:cs typeface="Merriweather" pitchFamily="34" charset="-120"/>
              </a:rPr>
              <a:t>Una clase hija hereda métodos de la clase padre</a:t>
            </a:r>
            <a:endParaRPr lang="en-US" sz="1250" dirty="0"/>
          </a:p>
        </p:txBody>
      </p:sp>
      <p:sp>
        <p:nvSpPr>
          <p:cNvPr id="8" name="Text 6"/>
          <p:cNvSpPr/>
          <p:nvPr/>
        </p:nvSpPr>
        <p:spPr>
          <a:xfrm>
            <a:off x="5145048" y="1883569"/>
            <a:ext cx="160973" cy="201216"/>
          </a:xfrm>
          <a:prstGeom prst="rect">
            <a:avLst/>
          </a:prstGeom>
          <a:noFill/>
          <a:ln/>
        </p:spPr>
        <p:txBody>
          <a:bodyPr wrap="none" lIns="0" tIns="0" rIns="0" bIns="0" rtlCol="0" anchor="t"/>
          <a:lstStyle/>
          <a:p>
            <a:pPr marL="0" indent="0" algn="l">
              <a:lnSpc>
                <a:spcPts val="2000"/>
              </a:lnSpc>
              <a:buNone/>
            </a:pPr>
            <a:r>
              <a:rPr lang="en-US" sz="1250" dirty="0">
                <a:solidFill>
                  <a:srgbClr val="E2E6E9"/>
                </a:solidFill>
                <a:latin typeface="Merriweather Light" pitchFamily="34" charset="0"/>
                <a:ea typeface="Merriweather Light" pitchFamily="34" charset="-122"/>
                <a:cs typeface="Merriweather Light" pitchFamily="34" charset="-120"/>
              </a:rPr>
              <a:t>02</a:t>
            </a:r>
            <a:endParaRPr lang="en-US" sz="1250" dirty="0"/>
          </a:p>
        </p:txBody>
      </p:sp>
      <p:sp>
        <p:nvSpPr>
          <p:cNvPr id="9" name="Shape 7"/>
          <p:cNvSpPr/>
          <p:nvPr/>
        </p:nvSpPr>
        <p:spPr>
          <a:xfrm>
            <a:off x="5145048" y="2134314"/>
            <a:ext cx="4340185" cy="22860"/>
          </a:xfrm>
          <a:prstGeom prst="rect">
            <a:avLst/>
          </a:prstGeom>
          <a:solidFill>
            <a:srgbClr val="609DFF"/>
          </a:solidFill>
          <a:ln/>
        </p:spPr>
      </p:sp>
      <p:sp>
        <p:nvSpPr>
          <p:cNvPr id="10" name="Text 8"/>
          <p:cNvSpPr/>
          <p:nvPr/>
        </p:nvSpPr>
        <p:spPr>
          <a:xfrm>
            <a:off x="5145048" y="2260521"/>
            <a:ext cx="2012633" cy="251460"/>
          </a:xfrm>
          <a:prstGeom prst="rect">
            <a:avLst/>
          </a:prstGeom>
          <a:noFill/>
          <a:ln/>
        </p:spPr>
        <p:txBody>
          <a:bodyPr wrap="none" lIns="0" tIns="0" rIns="0" bIns="0" rtlCol="0" anchor="t"/>
          <a:lstStyle/>
          <a:p>
            <a:pPr marL="0" indent="0" algn="l">
              <a:lnSpc>
                <a:spcPts val="1950"/>
              </a:lnSpc>
              <a:buNone/>
            </a:pPr>
            <a:r>
              <a:rPr lang="en-US" sz="1550" dirty="0">
                <a:solidFill>
                  <a:srgbClr val="E2E6E9"/>
                </a:solidFill>
                <a:latin typeface="Merriweather" pitchFamily="34" charset="0"/>
                <a:ea typeface="Merriweather" pitchFamily="34" charset="-122"/>
                <a:cs typeface="Merriweather" pitchFamily="34" charset="-120"/>
              </a:rPr>
              <a:t>Redefinición</a:t>
            </a:r>
            <a:endParaRPr lang="en-US" sz="1550" dirty="0"/>
          </a:p>
        </p:txBody>
      </p:sp>
      <p:sp>
        <p:nvSpPr>
          <p:cNvPr id="11" name="Text 9"/>
          <p:cNvSpPr/>
          <p:nvPr/>
        </p:nvSpPr>
        <p:spPr>
          <a:xfrm>
            <a:off x="5145048" y="2608540"/>
            <a:ext cx="4340185" cy="515064"/>
          </a:xfrm>
          <a:prstGeom prst="rect">
            <a:avLst/>
          </a:prstGeom>
          <a:noFill/>
          <a:ln/>
        </p:spPr>
        <p:txBody>
          <a:bodyPr wrap="square" lIns="0" tIns="0" rIns="0" bIns="0" rtlCol="0" anchor="t"/>
          <a:lstStyle/>
          <a:p>
            <a:pPr marL="0" indent="0" algn="l">
              <a:lnSpc>
                <a:spcPts val="2000"/>
              </a:lnSpc>
              <a:buNone/>
            </a:pPr>
            <a:r>
              <a:rPr lang="en-US" sz="1250" dirty="0">
                <a:solidFill>
                  <a:srgbClr val="E2E6E9"/>
                </a:solidFill>
                <a:latin typeface="Merriweather" pitchFamily="34" charset="0"/>
                <a:ea typeface="Merriweather" pitchFamily="34" charset="-122"/>
                <a:cs typeface="Merriweather" pitchFamily="34" charset="-120"/>
              </a:rPr>
              <a:t>La clase hija redefine el método con nueva implementación</a:t>
            </a:r>
            <a:endParaRPr lang="en-US" sz="1250" dirty="0"/>
          </a:p>
        </p:txBody>
      </p:sp>
      <p:sp>
        <p:nvSpPr>
          <p:cNvPr id="12" name="Text 10"/>
          <p:cNvSpPr/>
          <p:nvPr/>
        </p:nvSpPr>
        <p:spPr>
          <a:xfrm>
            <a:off x="9646206" y="1883569"/>
            <a:ext cx="160973" cy="201216"/>
          </a:xfrm>
          <a:prstGeom prst="rect">
            <a:avLst/>
          </a:prstGeom>
          <a:noFill/>
          <a:ln/>
        </p:spPr>
        <p:txBody>
          <a:bodyPr wrap="none" lIns="0" tIns="0" rIns="0" bIns="0" rtlCol="0" anchor="t"/>
          <a:lstStyle/>
          <a:p>
            <a:pPr marL="0" indent="0" algn="l">
              <a:lnSpc>
                <a:spcPts val="2000"/>
              </a:lnSpc>
              <a:buNone/>
            </a:pPr>
            <a:r>
              <a:rPr lang="en-US" sz="1250" dirty="0">
                <a:solidFill>
                  <a:srgbClr val="E2E6E9"/>
                </a:solidFill>
                <a:latin typeface="Merriweather Light" pitchFamily="34" charset="0"/>
                <a:ea typeface="Merriweather Light" pitchFamily="34" charset="-122"/>
                <a:cs typeface="Merriweather Light" pitchFamily="34" charset="-120"/>
              </a:rPr>
              <a:t>03</a:t>
            </a:r>
            <a:endParaRPr lang="en-US" sz="1250" dirty="0"/>
          </a:p>
        </p:txBody>
      </p:sp>
      <p:sp>
        <p:nvSpPr>
          <p:cNvPr id="13" name="Shape 11"/>
          <p:cNvSpPr/>
          <p:nvPr/>
        </p:nvSpPr>
        <p:spPr>
          <a:xfrm>
            <a:off x="9646206" y="2134314"/>
            <a:ext cx="4340185" cy="22860"/>
          </a:xfrm>
          <a:prstGeom prst="rect">
            <a:avLst/>
          </a:prstGeom>
          <a:solidFill>
            <a:srgbClr val="609DFF"/>
          </a:solidFill>
          <a:ln/>
        </p:spPr>
      </p:sp>
      <p:sp>
        <p:nvSpPr>
          <p:cNvPr id="14" name="Text 12"/>
          <p:cNvSpPr/>
          <p:nvPr/>
        </p:nvSpPr>
        <p:spPr>
          <a:xfrm>
            <a:off x="9646206" y="2260521"/>
            <a:ext cx="2012633" cy="251460"/>
          </a:xfrm>
          <a:prstGeom prst="rect">
            <a:avLst/>
          </a:prstGeom>
          <a:noFill/>
          <a:ln/>
        </p:spPr>
        <p:txBody>
          <a:bodyPr wrap="none" lIns="0" tIns="0" rIns="0" bIns="0" rtlCol="0" anchor="t"/>
          <a:lstStyle/>
          <a:p>
            <a:pPr marL="0" indent="0" algn="l">
              <a:lnSpc>
                <a:spcPts val="1950"/>
              </a:lnSpc>
              <a:buNone/>
            </a:pPr>
            <a:r>
              <a:rPr lang="en-US" sz="1550" dirty="0">
                <a:solidFill>
                  <a:srgbClr val="E2E6E9"/>
                </a:solidFill>
                <a:latin typeface="Merriweather" pitchFamily="34" charset="0"/>
                <a:ea typeface="Merriweather" pitchFamily="34" charset="-122"/>
                <a:cs typeface="Merriweather" pitchFamily="34" charset="-120"/>
              </a:rPr>
              <a:t>Ejecución</a:t>
            </a:r>
            <a:endParaRPr lang="en-US" sz="1550" dirty="0"/>
          </a:p>
        </p:txBody>
      </p:sp>
      <p:sp>
        <p:nvSpPr>
          <p:cNvPr id="15" name="Text 13"/>
          <p:cNvSpPr/>
          <p:nvPr/>
        </p:nvSpPr>
        <p:spPr>
          <a:xfrm>
            <a:off x="9646206" y="2608540"/>
            <a:ext cx="4340185" cy="257532"/>
          </a:xfrm>
          <a:prstGeom prst="rect">
            <a:avLst/>
          </a:prstGeom>
          <a:noFill/>
          <a:ln/>
        </p:spPr>
        <p:txBody>
          <a:bodyPr wrap="none" lIns="0" tIns="0" rIns="0" bIns="0" rtlCol="0" anchor="t"/>
          <a:lstStyle/>
          <a:p>
            <a:pPr marL="0" indent="0" algn="l">
              <a:lnSpc>
                <a:spcPts val="2000"/>
              </a:lnSpc>
              <a:buNone/>
            </a:pPr>
            <a:r>
              <a:rPr lang="en-US" sz="1250" dirty="0">
                <a:solidFill>
                  <a:srgbClr val="E2E6E9"/>
                </a:solidFill>
                <a:latin typeface="Merriweather" pitchFamily="34" charset="0"/>
                <a:ea typeface="Merriweather" pitchFamily="34" charset="-122"/>
                <a:cs typeface="Merriweather" pitchFamily="34" charset="-120"/>
              </a:rPr>
              <a:t>Se ejecuta la versión del método de la clase hija</a:t>
            </a:r>
            <a:endParaRPr lang="en-US" sz="1250" dirty="0"/>
          </a:p>
        </p:txBody>
      </p:sp>
      <p:sp>
        <p:nvSpPr>
          <p:cNvPr id="16" name="Shape 14"/>
          <p:cNvSpPr/>
          <p:nvPr/>
        </p:nvSpPr>
        <p:spPr>
          <a:xfrm>
            <a:off x="644009" y="3425428"/>
            <a:ext cx="13342382" cy="4361974"/>
          </a:xfrm>
          <a:prstGeom prst="roundRect">
            <a:avLst>
              <a:gd name="adj" fmla="val 1550"/>
            </a:avLst>
          </a:prstGeom>
          <a:solidFill>
            <a:srgbClr val="162227"/>
          </a:solidFill>
          <a:ln/>
        </p:spPr>
      </p:sp>
      <p:sp>
        <p:nvSpPr>
          <p:cNvPr id="17" name="Shape 15"/>
          <p:cNvSpPr/>
          <p:nvPr/>
        </p:nvSpPr>
        <p:spPr>
          <a:xfrm>
            <a:off x="636032" y="3425428"/>
            <a:ext cx="13358336" cy="4361974"/>
          </a:xfrm>
          <a:prstGeom prst="roundRect">
            <a:avLst>
              <a:gd name="adj" fmla="val 554"/>
            </a:avLst>
          </a:prstGeom>
          <a:solidFill>
            <a:srgbClr val="162227"/>
          </a:solidFill>
          <a:ln/>
        </p:spPr>
      </p:sp>
      <p:sp>
        <p:nvSpPr>
          <p:cNvPr id="18" name="Text 16"/>
          <p:cNvSpPr/>
          <p:nvPr/>
        </p:nvSpPr>
        <p:spPr>
          <a:xfrm>
            <a:off x="797004" y="3546158"/>
            <a:ext cx="13036391" cy="4120515"/>
          </a:xfrm>
          <a:prstGeom prst="rect">
            <a:avLst/>
          </a:prstGeom>
          <a:noFill/>
          <a:ln/>
        </p:spPr>
        <p:txBody>
          <a:bodyPr wrap="square" lIns="0" tIns="0" rIns="0" bIns="0" rtlCol="0" anchor="t"/>
          <a:lstStyle/>
          <a:p>
            <a:pPr marL="0" indent="0" algn="l">
              <a:lnSpc>
                <a:spcPts val="2000"/>
              </a:lnSpc>
              <a:buNone/>
            </a:pPr>
            <a:r>
              <a:rPr lang="en-US" sz="1250" dirty="0">
                <a:solidFill>
                  <a:srgbClr val="E2E6E9"/>
                </a:solidFill>
                <a:highlight>
                  <a:srgbClr val="162227"/>
                </a:highlight>
                <a:latin typeface="Consolas" pitchFamily="34" charset="0"/>
                <a:ea typeface="Consolas" pitchFamily="34" charset="-122"/>
                <a:cs typeface="Consolas" pitchFamily="34" charset="-120"/>
              </a:rPr>
              <a:t>class Animal: def hablar(self): return "Sonido genérico"class Perro(Animal): def hablar(self): # Sobreescritura return "Guau!"class Gato(Animal): def hablar(self): # Sobreescritura return "Miau!"animales = [Perro(), Gato()]for a in animales: print(a.hablar()) # Guau! Miau!</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1840" y="296942"/>
            <a:ext cx="5116949" cy="337304"/>
          </a:xfrm>
          <a:prstGeom prst="rect">
            <a:avLst/>
          </a:prstGeom>
          <a:noFill/>
          <a:ln/>
        </p:spPr>
        <p:txBody>
          <a:bodyPr wrap="none" lIns="0" tIns="0" rIns="0" bIns="0" rtlCol="0" anchor="t"/>
          <a:lstStyle/>
          <a:p>
            <a:pPr marL="0" indent="0" algn="l">
              <a:lnSpc>
                <a:spcPts val="2650"/>
              </a:lnSpc>
              <a:buNone/>
            </a:pPr>
            <a:r>
              <a:rPr lang="en-US" sz="3600" dirty="0">
                <a:solidFill>
                  <a:srgbClr val="F5F0F0"/>
                </a:solidFill>
                <a:latin typeface="Calibri (Cuerpo)"/>
                <a:ea typeface="Merriweather" pitchFamily="34" charset="-122"/>
                <a:cs typeface="Merriweather" pitchFamily="34" charset="-120"/>
              </a:rPr>
              <a:t>Diferencias Clave y Ejemplo Combinado</a:t>
            </a:r>
            <a:endParaRPr lang="en-US" sz="3600" dirty="0">
              <a:latin typeface="Calibri (Cuerpo)"/>
            </a:endParaRPr>
          </a:p>
        </p:txBody>
      </p:sp>
      <p:sp>
        <p:nvSpPr>
          <p:cNvPr id="3" name="Shape 1"/>
          <p:cNvSpPr/>
          <p:nvPr/>
        </p:nvSpPr>
        <p:spPr>
          <a:xfrm>
            <a:off x="431840" y="917615"/>
            <a:ext cx="6751677" cy="1327071"/>
          </a:xfrm>
          <a:prstGeom prst="roundRect">
            <a:avLst>
              <a:gd name="adj" fmla="val 5512"/>
            </a:avLst>
          </a:prstGeom>
          <a:solidFill>
            <a:srgbClr val="09151A">
              <a:alpha val="95000"/>
            </a:srgbClr>
          </a:solidFill>
          <a:ln w="15240">
            <a:solidFill>
              <a:srgbClr val="194A99"/>
            </a:solidFill>
            <a:prstDash val="solid"/>
          </a:ln>
        </p:spPr>
      </p:sp>
      <p:sp>
        <p:nvSpPr>
          <p:cNvPr id="4" name="Shape 2"/>
          <p:cNvSpPr/>
          <p:nvPr/>
        </p:nvSpPr>
        <p:spPr>
          <a:xfrm>
            <a:off x="416600" y="917615"/>
            <a:ext cx="60960" cy="1327071"/>
          </a:xfrm>
          <a:prstGeom prst="roundRect">
            <a:avLst>
              <a:gd name="adj" fmla="val 74402"/>
            </a:avLst>
          </a:prstGeom>
          <a:solidFill>
            <a:srgbClr val="609DFF"/>
          </a:solidFill>
          <a:ln/>
        </p:spPr>
      </p:sp>
      <p:sp>
        <p:nvSpPr>
          <p:cNvPr id="5" name="Text 3"/>
          <p:cNvSpPr/>
          <p:nvPr/>
        </p:nvSpPr>
        <p:spPr>
          <a:xfrm>
            <a:off x="600670" y="1040725"/>
            <a:ext cx="1349812" cy="168712"/>
          </a:xfrm>
          <a:prstGeom prst="rect">
            <a:avLst/>
          </a:prstGeom>
          <a:noFill/>
          <a:ln/>
        </p:spPr>
        <p:txBody>
          <a:bodyPr wrap="none" lIns="0" tIns="0" rIns="0" bIns="0" rtlCol="0" anchor="t"/>
          <a:lstStyle/>
          <a:p>
            <a:pPr marL="0" indent="0" algn="l">
              <a:lnSpc>
                <a:spcPts val="1300"/>
              </a:lnSpc>
              <a:buNone/>
            </a:pPr>
            <a:r>
              <a:rPr lang="en-US" sz="1600" dirty="0">
                <a:solidFill>
                  <a:srgbClr val="E2E6E9"/>
                </a:solidFill>
                <a:latin typeface="Calibri (Cuerpo)"/>
                <a:ea typeface="Merriweather" pitchFamily="34" charset="-122"/>
                <a:cs typeface="Merriweather" pitchFamily="34" charset="-120"/>
              </a:rPr>
              <a:t>Sobrecarga</a:t>
            </a:r>
            <a:endParaRPr lang="en-US" sz="1600" dirty="0">
              <a:latin typeface="Calibri (Cuerpo)"/>
            </a:endParaRPr>
          </a:p>
        </p:txBody>
      </p:sp>
      <p:sp>
        <p:nvSpPr>
          <p:cNvPr id="6" name="Text 4"/>
          <p:cNvSpPr/>
          <p:nvPr/>
        </p:nvSpPr>
        <p:spPr>
          <a:xfrm>
            <a:off x="600670" y="1317308"/>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Mismo nombre de método</a:t>
            </a:r>
            <a:endParaRPr lang="en-US" sz="1100" dirty="0">
              <a:latin typeface="Calibri (Cuerpo)"/>
            </a:endParaRPr>
          </a:p>
        </p:txBody>
      </p:sp>
      <p:sp>
        <p:nvSpPr>
          <p:cNvPr id="7" name="Text 5"/>
          <p:cNvSpPr/>
          <p:nvPr/>
        </p:nvSpPr>
        <p:spPr>
          <a:xfrm>
            <a:off x="600670" y="1527810"/>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Diferentes parámetros</a:t>
            </a:r>
            <a:endParaRPr lang="en-US" sz="1100" dirty="0">
              <a:latin typeface="Calibri (Cuerpo)"/>
            </a:endParaRPr>
          </a:p>
        </p:txBody>
      </p:sp>
      <p:sp>
        <p:nvSpPr>
          <p:cNvPr id="8" name="Text 6"/>
          <p:cNvSpPr/>
          <p:nvPr/>
        </p:nvSpPr>
        <p:spPr>
          <a:xfrm>
            <a:off x="600670" y="1738313"/>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Simulada en Python</a:t>
            </a:r>
            <a:endParaRPr lang="en-US" sz="1100" dirty="0">
              <a:latin typeface="Calibri (Cuerpo)"/>
            </a:endParaRPr>
          </a:p>
        </p:txBody>
      </p:sp>
      <p:sp>
        <p:nvSpPr>
          <p:cNvPr id="9" name="Text 7"/>
          <p:cNvSpPr/>
          <p:nvPr/>
        </p:nvSpPr>
        <p:spPr>
          <a:xfrm>
            <a:off x="600670" y="1948815"/>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Enfoque en flexibilidad</a:t>
            </a:r>
            <a:endParaRPr lang="en-US" sz="1100" dirty="0">
              <a:latin typeface="Calibri (Cuerpo)"/>
            </a:endParaRPr>
          </a:p>
        </p:txBody>
      </p:sp>
      <p:sp>
        <p:nvSpPr>
          <p:cNvPr id="10" name="Shape 8"/>
          <p:cNvSpPr/>
          <p:nvPr/>
        </p:nvSpPr>
        <p:spPr>
          <a:xfrm>
            <a:off x="431840" y="2352556"/>
            <a:ext cx="6751677" cy="1327071"/>
          </a:xfrm>
          <a:prstGeom prst="roundRect">
            <a:avLst>
              <a:gd name="adj" fmla="val 5512"/>
            </a:avLst>
          </a:prstGeom>
          <a:solidFill>
            <a:srgbClr val="09151A">
              <a:alpha val="95000"/>
            </a:srgbClr>
          </a:solidFill>
          <a:ln w="15240">
            <a:solidFill>
              <a:srgbClr val="194A99"/>
            </a:solidFill>
            <a:prstDash val="solid"/>
          </a:ln>
        </p:spPr>
      </p:sp>
      <p:sp>
        <p:nvSpPr>
          <p:cNvPr id="11" name="Shape 9"/>
          <p:cNvSpPr/>
          <p:nvPr/>
        </p:nvSpPr>
        <p:spPr>
          <a:xfrm>
            <a:off x="416600" y="2352556"/>
            <a:ext cx="60960" cy="1327071"/>
          </a:xfrm>
          <a:prstGeom prst="roundRect">
            <a:avLst>
              <a:gd name="adj" fmla="val 74402"/>
            </a:avLst>
          </a:prstGeom>
          <a:solidFill>
            <a:srgbClr val="609DFF"/>
          </a:solidFill>
          <a:ln/>
        </p:spPr>
      </p:sp>
      <p:sp>
        <p:nvSpPr>
          <p:cNvPr id="12" name="Text 10"/>
          <p:cNvSpPr/>
          <p:nvPr/>
        </p:nvSpPr>
        <p:spPr>
          <a:xfrm>
            <a:off x="600670" y="2475667"/>
            <a:ext cx="1349812" cy="168712"/>
          </a:xfrm>
          <a:prstGeom prst="rect">
            <a:avLst/>
          </a:prstGeom>
          <a:noFill/>
          <a:ln/>
        </p:spPr>
        <p:txBody>
          <a:bodyPr wrap="none" lIns="0" tIns="0" rIns="0" bIns="0" rtlCol="0" anchor="t"/>
          <a:lstStyle/>
          <a:p>
            <a:pPr marL="0" indent="0" algn="l">
              <a:lnSpc>
                <a:spcPts val="1300"/>
              </a:lnSpc>
              <a:buNone/>
            </a:pPr>
            <a:r>
              <a:rPr lang="en-US" sz="1600" dirty="0">
                <a:solidFill>
                  <a:srgbClr val="E2E6E9"/>
                </a:solidFill>
                <a:latin typeface="Calibri (Cuerpo)"/>
                <a:ea typeface="Merriweather" pitchFamily="34" charset="-122"/>
                <a:cs typeface="Merriweather" pitchFamily="34" charset="-120"/>
              </a:rPr>
              <a:t>Sobreescritura</a:t>
            </a:r>
            <a:endParaRPr lang="en-US" sz="1600" dirty="0">
              <a:latin typeface="Calibri (Cuerpo)"/>
            </a:endParaRPr>
          </a:p>
        </p:txBody>
      </p:sp>
      <p:sp>
        <p:nvSpPr>
          <p:cNvPr id="13" name="Text 11"/>
          <p:cNvSpPr/>
          <p:nvPr/>
        </p:nvSpPr>
        <p:spPr>
          <a:xfrm>
            <a:off x="600670" y="2752249"/>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Mismo nombre de método</a:t>
            </a:r>
            <a:endParaRPr lang="en-US" sz="1100" dirty="0">
              <a:latin typeface="Calibri (Cuerpo)"/>
            </a:endParaRPr>
          </a:p>
        </p:txBody>
      </p:sp>
      <p:sp>
        <p:nvSpPr>
          <p:cNvPr id="14" name="Text 12"/>
          <p:cNvSpPr/>
          <p:nvPr/>
        </p:nvSpPr>
        <p:spPr>
          <a:xfrm>
            <a:off x="600670" y="2962751"/>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Redefinido en clase hija</a:t>
            </a:r>
            <a:endParaRPr lang="en-US" sz="1100" dirty="0">
              <a:latin typeface="Calibri (Cuerpo)"/>
            </a:endParaRPr>
          </a:p>
        </p:txBody>
      </p:sp>
      <p:sp>
        <p:nvSpPr>
          <p:cNvPr id="15" name="Text 13"/>
          <p:cNvSpPr/>
          <p:nvPr/>
        </p:nvSpPr>
        <p:spPr>
          <a:xfrm>
            <a:off x="600670" y="3173254"/>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Nativa en Python</a:t>
            </a:r>
            <a:endParaRPr lang="en-US" sz="1100" dirty="0">
              <a:latin typeface="Calibri (Cuerpo)"/>
            </a:endParaRPr>
          </a:p>
        </p:txBody>
      </p:sp>
      <p:sp>
        <p:nvSpPr>
          <p:cNvPr id="16" name="Text 14"/>
          <p:cNvSpPr/>
          <p:nvPr/>
        </p:nvSpPr>
        <p:spPr>
          <a:xfrm>
            <a:off x="600670" y="3383756"/>
            <a:ext cx="6459736" cy="172760"/>
          </a:xfrm>
          <a:prstGeom prst="rect">
            <a:avLst/>
          </a:prstGeom>
          <a:noFill/>
          <a:ln/>
        </p:spPr>
        <p:txBody>
          <a:bodyPr wrap="none" lIns="0" tIns="0" rIns="0" bIns="0" rtlCol="0" anchor="t"/>
          <a:lstStyle/>
          <a:p>
            <a:pPr marL="342900" indent="-342900" algn="l">
              <a:lnSpc>
                <a:spcPts val="1350"/>
              </a:lnSpc>
              <a:buSzPct val="100000"/>
              <a:buChar char="•"/>
            </a:pPr>
            <a:r>
              <a:rPr lang="en-US" sz="1100" dirty="0">
                <a:solidFill>
                  <a:srgbClr val="E2E6E9"/>
                </a:solidFill>
                <a:latin typeface="Calibri (Cuerpo)"/>
                <a:ea typeface="Merriweather" pitchFamily="34" charset="-122"/>
                <a:cs typeface="Merriweather" pitchFamily="34" charset="-120"/>
              </a:rPr>
              <a:t>Enfoque en herencia</a:t>
            </a:r>
            <a:endParaRPr lang="en-US" sz="1100" dirty="0">
              <a:latin typeface="Calibri (Cuerpo)"/>
            </a:endParaRPr>
          </a:p>
        </p:txBody>
      </p:sp>
      <p:pic>
        <p:nvPicPr>
          <p:cNvPr id="17" name="Image 0" descr="preencoded.png"/>
          <p:cNvPicPr>
            <a:picLocks noChangeAspect="1"/>
          </p:cNvPicPr>
          <p:nvPr/>
        </p:nvPicPr>
        <p:blipFill>
          <a:blip r:embed="rId3"/>
          <a:stretch>
            <a:fillRect/>
          </a:stretch>
        </p:blipFill>
        <p:spPr>
          <a:xfrm>
            <a:off x="7454503" y="917615"/>
            <a:ext cx="6751677" cy="6751677"/>
          </a:xfrm>
          <a:prstGeom prst="rect">
            <a:avLst/>
          </a:prstGeom>
        </p:spPr>
      </p:pic>
      <p:sp>
        <p:nvSpPr>
          <p:cNvPr id="18" name="Text 15"/>
          <p:cNvSpPr/>
          <p:nvPr/>
        </p:nvSpPr>
        <p:spPr>
          <a:xfrm>
            <a:off x="431840" y="7952661"/>
            <a:ext cx="2240518" cy="202406"/>
          </a:xfrm>
          <a:prstGeom prst="rect">
            <a:avLst/>
          </a:prstGeom>
          <a:noFill/>
          <a:ln/>
        </p:spPr>
        <p:txBody>
          <a:bodyPr wrap="none" lIns="0" tIns="0" rIns="0" bIns="0" rtlCol="0" anchor="t"/>
          <a:lstStyle/>
          <a:p>
            <a:pPr marL="0" indent="0" algn="l">
              <a:lnSpc>
                <a:spcPts val="1550"/>
              </a:lnSpc>
              <a:buNone/>
            </a:pPr>
            <a:r>
              <a:rPr lang="en-US" sz="1250" dirty="0">
                <a:solidFill>
                  <a:srgbClr val="F5F0F0"/>
                </a:solidFill>
                <a:latin typeface="Merriweather" pitchFamily="34" charset="0"/>
                <a:ea typeface="Merriweather" pitchFamily="34" charset="-122"/>
                <a:cs typeface="Merriweather" pitchFamily="34" charset="-120"/>
              </a:rPr>
              <a:t>Ejemplo Práctico Combinado</a:t>
            </a:r>
            <a:endParaRPr lang="en-US" sz="1250" dirty="0"/>
          </a:p>
        </p:txBody>
      </p:sp>
      <p:sp>
        <p:nvSpPr>
          <p:cNvPr id="19" name="Text 16"/>
          <p:cNvSpPr/>
          <p:nvPr/>
        </p:nvSpPr>
        <p:spPr>
          <a:xfrm>
            <a:off x="431840" y="8316992"/>
            <a:ext cx="13766721" cy="172760"/>
          </a:xfrm>
          <a:prstGeom prst="rect">
            <a:avLst/>
          </a:prstGeom>
          <a:noFill/>
          <a:ln/>
        </p:spPr>
        <p:txBody>
          <a:bodyPr wrap="none" lIns="0" tIns="0" rIns="0" bIns="0" rtlCol="0" anchor="t"/>
          <a:lstStyle/>
          <a:p>
            <a:pPr marL="0" indent="0" algn="l">
              <a:lnSpc>
                <a:spcPts val="1350"/>
              </a:lnSpc>
              <a:buNone/>
            </a:pPr>
            <a:r>
              <a:rPr lang="en-US" sz="850" dirty="0">
                <a:solidFill>
                  <a:srgbClr val="E2E6E9"/>
                </a:solidFill>
                <a:latin typeface="Merriweather" pitchFamily="34" charset="0"/>
                <a:ea typeface="Merriweather" pitchFamily="34" charset="-122"/>
                <a:cs typeface="Merriweather" pitchFamily="34" charset="-120"/>
              </a:rPr>
              <a:t>Veamos cómo se pueden aplicar ambos conceptos en una implementación real:</a:t>
            </a:r>
            <a:endParaRPr lang="en-US" sz="850" dirty="0"/>
          </a:p>
        </p:txBody>
      </p:sp>
      <p:sp>
        <p:nvSpPr>
          <p:cNvPr id="20" name="Shape 17"/>
          <p:cNvSpPr/>
          <p:nvPr/>
        </p:nvSpPr>
        <p:spPr>
          <a:xfrm>
            <a:off x="431840" y="8611195"/>
            <a:ext cx="13766721" cy="3271599"/>
          </a:xfrm>
          <a:prstGeom prst="roundRect">
            <a:avLst>
              <a:gd name="adj" fmla="val 1386"/>
            </a:avLst>
          </a:prstGeom>
          <a:solidFill>
            <a:srgbClr val="162227"/>
          </a:solidFill>
          <a:ln/>
        </p:spPr>
      </p:sp>
      <p:sp>
        <p:nvSpPr>
          <p:cNvPr id="21" name="Shape 18"/>
          <p:cNvSpPr/>
          <p:nvPr/>
        </p:nvSpPr>
        <p:spPr>
          <a:xfrm>
            <a:off x="426482" y="8611195"/>
            <a:ext cx="13777436" cy="3271599"/>
          </a:xfrm>
          <a:prstGeom prst="roundRect">
            <a:avLst>
              <a:gd name="adj" fmla="val 495"/>
            </a:avLst>
          </a:prstGeom>
          <a:solidFill>
            <a:srgbClr val="162227"/>
          </a:solidFill>
          <a:ln/>
        </p:spPr>
      </p:sp>
      <p:sp>
        <p:nvSpPr>
          <p:cNvPr id="22" name="Text 19"/>
          <p:cNvSpPr/>
          <p:nvPr/>
        </p:nvSpPr>
        <p:spPr>
          <a:xfrm>
            <a:off x="534353" y="8692158"/>
            <a:ext cx="13561695" cy="3109674"/>
          </a:xfrm>
          <a:prstGeom prst="rect">
            <a:avLst/>
          </a:prstGeom>
          <a:noFill/>
          <a:ln/>
        </p:spPr>
        <p:txBody>
          <a:bodyPr wrap="square" lIns="0" tIns="0" rIns="0" bIns="0" rtlCol="0" anchor="t"/>
          <a:lstStyle/>
          <a:p>
            <a:pPr marL="0" indent="0" algn="l">
              <a:lnSpc>
                <a:spcPts val="1350"/>
              </a:lnSpc>
              <a:buNone/>
            </a:pPr>
            <a:r>
              <a:rPr lang="en-US" sz="850" dirty="0">
                <a:solidFill>
                  <a:srgbClr val="E2E6E9"/>
                </a:solidFill>
                <a:highlight>
                  <a:srgbClr val="162227"/>
                </a:highlight>
                <a:latin typeface="Consolas" pitchFamily="34" charset="0"/>
                <a:ea typeface="Consolas" pitchFamily="34" charset="-122"/>
                <a:cs typeface="Consolas" pitchFamily="34" charset="-120"/>
              </a:rPr>
              <a:t>class Figura:    def area(self):        return 0class Rectangulo(Figura):    def __init__(self, base, altura=0):        self.base = base        self.altura = altura        # Sobreescritura del método área    def area(self):        return self.base * self.altura# Uso prácticofiguras = [Rectangulo(3, 4), Rectangulo(5)]for f in figuras:    print(f.area())  # 12, 0</a:t>
            </a:r>
            <a:endParaRPr lang="en-US" sz="850" dirty="0"/>
          </a:p>
        </p:txBody>
      </p:sp>
      <p:sp>
        <p:nvSpPr>
          <p:cNvPr id="23" name="Text 20"/>
          <p:cNvSpPr/>
          <p:nvPr/>
        </p:nvSpPr>
        <p:spPr>
          <a:xfrm>
            <a:off x="431840" y="12004238"/>
            <a:ext cx="13766721" cy="172760"/>
          </a:xfrm>
          <a:prstGeom prst="rect">
            <a:avLst/>
          </a:prstGeom>
          <a:noFill/>
          <a:ln/>
        </p:spPr>
        <p:txBody>
          <a:bodyPr wrap="none" lIns="0" tIns="0" rIns="0" bIns="0" rtlCol="0" anchor="t"/>
          <a:lstStyle/>
          <a:p>
            <a:pPr marL="0" indent="0" algn="l">
              <a:lnSpc>
                <a:spcPts val="1350"/>
              </a:lnSpc>
              <a:buNone/>
            </a:pPr>
            <a:r>
              <a:rPr lang="en-US" sz="850" dirty="0">
                <a:solidFill>
                  <a:srgbClr val="E2E6E9"/>
                </a:solidFill>
                <a:latin typeface="Merriweather" pitchFamily="34" charset="0"/>
                <a:ea typeface="Merriweather" pitchFamily="34" charset="-122"/>
                <a:cs typeface="Merriweather" pitchFamily="34" charset="-120"/>
              </a:rPr>
              <a:t>Este ejemplo demuestra cómo la sobreescritura nos permite especializar el comportamiento de métodos heredados, mientras que la sobrecarga (simulada) ofrece flexibilidad en la inicialización de objetos.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1855" y="379333"/>
            <a:ext cx="5235773" cy="431125"/>
          </a:xfrm>
          <a:prstGeom prst="rect">
            <a:avLst/>
          </a:prstGeom>
          <a:noFill/>
          <a:ln/>
        </p:spPr>
        <p:txBody>
          <a:bodyPr wrap="none" lIns="0" tIns="0" rIns="0" bIns="0" rtlCol="0" anchor="t"/>
          <a:lstStyle/>
          <a:p>
            <a:pPr marL="0" indent="0" algn="l">
              <a:lnSpc>
                <a:spcPts val="3350"/>
              </a:lnSpc>
              <a:buNone/>
            </a:pPr>
            <a:r>
              <a:rPr lang="en-US" sz="2700" dirty="0">
                <a:solidFill>
                  <a:srgbClr val="F5F0F0"/>
                </a:solidFill>
                <a:latin typeface="Merriweather" pitchFamily="34" charset="0"/>
                <a:ea typeface="Merriweather" pitchFamily="34" charset="-122"/>
                <a:cs typeface="Merriweather" pitchFamily="34" charset="-120"/>
              </a:rPr>
              <a:t>Sobreescritura vs Polimorfismo</a:t>
            </a:r>
            <a:endParaRPr lang="en-US" sz="2700" dirty="0"/>
          </a:p>
        </p:txBody>
      </p:sp>
      <p:sp>
        <p:nvSpPr>
          <p:cNvPr id="3" name="Text 1"/>
          <p:cNvSpPr/>
          <p:nvPr/>
        </p:nvSpPr>
        <p:spPr>
          <a:xfrm>
            <a:off x="551855" y="1086326"/>
            <a:ext cx="13526691" cy="220742"/>
          </a:xfrm>
          <a:prstGeom prst="rect">
            <a:avLst/>
          </a:prstGeom>
          <a:noFill/>
          <a:ln/>
        </p:spPr>
        <p:txBody>
          <a:bodyPr wrap="none" lIns="0" tIns="0" rIns="0" bIns="0" rtlCol="0" anchor="t"/>
          <a:lstStyle/>
          <a:p>
            <a:pPr marL="0" indent="0" algn="l">
              <a:lnSpc>
                <a:spcPts val="1700"/>
              </a:lnSpc>
              <a:buNone/>
            </a:pPr>
            <a:r>
              <a:rPr lang="en-US" sz="1050" dirty="0">
                <a:solidFill>
                  <a:srgbClr val="E2E6E9"/>
                </a:solidFill>
                <a:latin typeface="Merriweather" pitchFamily="34" charset="0"/>
                <a:ea typeface="Merriweather" pitchFamily="34" charset="-122"/>
                <a:cs typeface="Merriweather" pitchFamily="34" charset="-120"/>
              </a:rPr>
              <a:t>Aunque están relacionados, la sobreescritura y el polimorfismo son conceptos distintos que trabajan juntos para crear sistemas más flexibles y mantenibles.</a:t>
            </a:r>
            <a:endParaRPr lang="en-US" sz="1050" dirty="0"/>
          </a:p>
        </p:txBody>
      </p:sp>
      <p:sp>
        <p:nvSpPr>
          <p:cNvPr id="4" name="Shape 2"/>
          <p:cNvSpPr/>
          <p:nvPr/>
        </p:nvSpPr>
        <p:spPr>
          <a:xfrm>
            <a:off x="551855" y="1617345"/>
            <a:ext cx="6595110" cy="1954887"/>
          </a:xfrm>
          <a:prstGeom prst="roundRect">
            <a:avLst>
              <a:gd name="adj" fmla="val 2964"/>
            </a:avLst>
          </a:prstGeom>
          <a:solidFill>
            <a:srgbClr val="003180"/>
          </a:solidFill>
          <a:ln w="7620">
            <a:solidFill>
              <a:srgbClr val="194A99"/>
            </a:solidFill>
            <a:prstDash val="solid"/>
          </a:ln>
        </p:spPr>
      </p:sp>
      <p:sp>
        <p:nvSpPr>
          <p:cNvPr id="5" name="Shape 3"/>
          <p:cNvSpPr/>
          <p:nvPr/>
        </p:nvSpPr>
        <p:spPr>
          <a:xfrm>
            <a:off x="697349" y="1762839"/>
            <a:ext cx="413861" cy="413861"/>
          </a:xfrm>
          <a:prstGeom prst="roundRect">
            <a:avLst>
              <a:gd name="adj" fmla="val 22092165"/>
            </a:avLst>
          </a:prstGeom>
          <a:solidFill>
            <a:srgbClr val="609DFF"/>
          </a:solidFill>
          <a:ln/>
        </p:spPr>
      </p:sp>
      <p:pic>
        <p:nvPicPr>
          <p:cNvPr id="6" name="Image 0" descr="preencoded.png"/>
          <p:cNvPicPr>
            <a:picLocks noChangeAspect="1"/>
          </p:cNvPicPr>
          <p:nvPr/>
        </p:nvPicPr>
        <p:blipFill>
          <a:blip r:embed="rId3"/>
          <a:stretch>
            <a:fillRect/>
          </a:stretch>
        </p:blipFill>
        <p:spPr>
          <a:xfrm>
            <a:off x="811173" y="1853327"/>
            <a:ext cx="186214" cy="232767"/>
          </a:xfrm>
          <a:prstGeom prst="rect">
            <a:avLst/>
          </a:prstGeom>
        </p:spPr>
      </p:pic>
      <p:sp>
        <p:nvSpPr>
          <p:cNvPr id="7" name="Text 4"/>
          <p:cNvSpPr/>
          <p:nvPr/>
        </p:nvSpPr>
        <p:spPr>
          <a:xfrm>
            <a:off x="697349" y="2314575"/>
            <a:ext cx="1724620" cy="215622"/>
          </a:xfrm>
          <a:prstGeom prst="rect">
            <a:avLst/>
          </a:prstGeom>
          <a:noFill/>
          <a:ln/>
        </p:spPr>
        <p:txBody>
          <a:bodyPr wrap="none" lIns="0" tIns="0" rIns="0" bIns="0" rtlCol="0" anchor="t"/>
          <a:lstStyle/>
          <a:p>
            <a:pPr marL="0" indent="0" algn="l">
              <a:lnSpc>
                <a:spcPts val="1650"/>
              </a:lnSpc>
              <a:buNone/>
            </a:pPr>
            <a:r>
              <a:rPr lang="en-US" sz="1350" dirty="0">
                <a:solidFill>
                  <a:srgbClr val="E2E6E9"/>
                </a:solidFill>
                <a:latin typeface="Merriweather" pitchFamily="34" charset="0"/>
                <a:ea typeface="Merriweather" pitchFamily="34" charset="-122"/>
                <a:cs typeface="Merriweather" pitchFamily="34" charset="-120"/>
              </a:rPr>
              <a:t>Sobreescritura</a:t>
            </a:r>
            <a:endParaRPr lang="en-US" sz="1350" dirty="0"/>
          </a:p>
        </p:txBody>
      </p:sp>
      <p:sp>
        <p:nvSpPr>
          <p:cNvPr id="8" name="Text 5"/>
          <p:cNvSpPr/>
          <p:nvPr/>
        </p:nvSpPr>
        <p:spPr>
          <a:xfrm>
            <a:off x="697349" y="2668072"/>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E2E6E9"/>
                </a:solidFill>
                <a:latin typeface="Merriweather" pitchFamily="34" charset="0"/>
                <a:ea typeface="Merriweather" pitchFamily="34" charset="-122"/>
                <a:cs typeface="Merriweather" pitchFamily="34" charset="-120"/>
              </a:rPr>
              <a:t>Una subclase </a:t>
            </a:r>
            <a:r>
              <a:rPr lang="en-US" sz="1050" b="1" dirty="0">
                <a:solidFill>
                  <a:srgbClr val="E2E6E9"/>
                </a:solidFill>
                <a:latin typeface="Merriweather" pitchFamily="34" charset="0"/>
                <a:ea typeface="Merriweather" pitchFamily="34" charset="-122"/>
                <a:cs typeface="Merriweather" pitchFamily="34" charset="-120"/>
              </a:rPr>
              <a:t>redefine un método</a:t>
            </a:r>
            <a:r>
              <a:rPr lang="en-US" sz="1050" dirty="0">
                <a:solidFill>
                  <a:srgbClr val="E2E6E9"/>
                </a:solidFill>
                <a:latin typeface="Merriweather" pitchFamily="34" charset="0"/>
                <a:ea typeface="Merriweather" pitchFamily="34" charset="-122"/>
                <a:cs typeface="Merriweather" pitchFamily="34" charset="-120"/>
              </a:rPr>
              <a:t> de la clase padre</a:t>
            </a:r>
            <a:endParaRPr lang="en-US" sz="1050" dirty="0"/>
          </a:p>
        </p:txBody>
      </p:sp>
      <p:sp>
        <p:nvSpPr>
          <p:cNvPr id="9" name="Text 6"/>
          <p:cNvSpPr/>
          <p:nvPr/>
        </p:nvSpPr>
        <p:spPr>
          <a:xfrm>
            <a:off x="697349" y="2937034"/>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E2E6E9"/>
                </a:solidFill>
                <a:latin typeface="Merriweather" pitchFamily="34" charset="0"/>
                <a:ea typeface="Merriweather" pitchFamily="34" charset="-122"/>
                <a:cs typeface="Merriweather" pitchFamily="34" charset="-120"/>
              </a:rPr>
              <a:t>Mismo nombre y firma, </a:t>
            </a:r>
            <a:r>
              <a:rPr lang="en-US" sz="1050" dirty="0">
                <a:solidFill>
                  <a:srgbClr val="609DFF"/>
                </a:solidFill>
                <a:latin typeface="Merriweather" pitchFamily="34" charset="0"/>
                <a:ea typeface="Merriweather" pitchFamily="34" charset="-122"/>
                <a:cs typeface="Merriweather" pitchFamily="34" charset="-120"/>
              </a:rPr>
              <a:t>comportamiento diferente</a:t>
            </a:r>
            <a:endParaRPr lang="en-US" sz="1050" dirty="0"/>
          </a:p>
        </p:txBody>
      </p:sp>
      <p:sp>
        <p:nvSpPr>
          <p:cNvPr id="10" name="Text 7"/>
          <p:cNvSpPr/>
          <p:nvPr/>
        </p:nvSpPr>
        <p:spPr>
          <a:xfrm>
            <a:off x="697349" y="3205996"/>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E2E6E9"/>
                </a:solidFill>
                <a:latin typeface="Merriweather" pitchFamily="34" charset="0"/>
                <a:ea typeface="Merriweather" pitchFamily="34" charset="-122"/>
                <a:cs typeface="Merriweather" pitchFamily="34" charset="-120"/>
              </a:rPr>
              <a:t>Enfoque: </a:t>
            </a:r>
            <a:r>
              <a:rPr lang="en-US" sz="1050" i="1" dirty="0">
                <a:solidFill>
                  <a:srgbClr val="E2E6E9"/>
                </a:solidFill>
                <a:latin typeface="Merriweather" pitchFamily="34" charset="0"/>
                <a:ea typeface="Merriweather" pitchFamily="34" charset="-122"/>
                <a:cs typeface="Merriweather" pitchFamily="34" charset="-120"/>
              </a:rPr>
              <a:t>"Reemplazar"</a:t>
            </a:r>
            <a:r>
              <a:rPr lang="en-US" sz="1050" dirty="0">
                <a:solidFill>
                  <a:srgbClr val="E2E6E9"/>
                </a:solidFill>
                <a:latin typeface="Merriweather" pitchFamily="34" charset="0"/>
                <a:ea typeface="Merriweather" pitchFamily="34" charset="-122"/>
                <a:cs typeface="Merriweather" pitchFamily="34" charset="-120"/>
              </a:rPr>
              <a:t> el método original</a:t>
            </a:r>
            <a:endParaRPr lang="en-US" sz="1050" dirty="0"/>
          </a:p>
        </p:txBody>
      </p:sp>
      <p:sp>
        <p:nvSpPr>
          <p:cNvPr id="11" name="Shape 8"/>
          <p:cNvSpPr/>
          <p:nvPr/>
        </p:nvSpPr>
        <p:spPr>
          <a:xfrm>
            <a:off x="551855" y="3727371"/>
            <a:ext cx="6595110" cy="2414349"/>
          </a:xfrm>
          <a:prstGeom prst="roundRect">
            <a:avLst>
              <a:gd name="adj" fmla="val 2400"/>
            </a:avLst>
          </a:prstGeom>
          <a:solidFill>
            <a:srgbClr val="162227"/>
          </a:solidFill>
          <a:ln/>
        </p:spPr>
      </p:sp>
      <p:sp>
        <p:nvSpPr>
          <p:cNvPr id="12" name="Shape 9"/>
          <p:cNvSpPr/>
          <p:nvPr/>
        </p:nvSpPr>
        <p:spPr>
          <a:xfrm>
            <a:off x="545068" y="3727371"/>
            <a:ext cx="6608683" cy="2414349"/>
          </a:xfrm>
          <a:prstGeom prst="roundRect">
            <a:avLst>
              <a:gd name="adj" fmla="val 857"/>
            </a:avLst>
          </a:prstGeom>
          <a:solidFill>
            <a:srgbClr val="162227"/>
          </a:solidFill>
          <a:ln/>
        </p:spPr>
      </p:sp>
      <p:sp>
        <p:nvSpPr>
          <p:cNvPr id="13" name="Text 10"/>
          <p:cNvSpPr/>
          <p:nvPr/>
        </p:nvSpPr>
        <p:spPr>
          <a:xfrm>
            <a:off x="682943" y="3830836"/>
            <a:ext cx="6332934" cy="2207419"/>
          </a:xfrm>
          <a:prstGeom prst="rect">
            <a:avLst/>
          </a:prstGeom>
          <a:noFill/>
          <a:ln/>
        </p:spPr>
        <p:txBody>
          <a:bodyPr wrap="square" lIns="0" tIns="0" rIns="0" bIns="0" rtlCol="0" anchor="t"/>
          <a:lstStyle/>
          <a:p>
            <a:pPr marL="0" indent="0" algn="l">
              <a:lnSpc>
                <a:spcPts val="17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class Animal:    def hablar(self):        return "Sonido genérico"class Perro(Animal):    def hablar(self):  # Sobreescritura        return "Guau!"print(Perro().hablar())  # Guau!</a:t>
            </a:r>
            <a:endParaRPr lang="en-US" sz="1050" dirty="0"/>
          </a:p>
        </p:txBody>
      </p:sp>
      <p:sp>
        <p:nvSpPr>
          <p:cNvPr id="14" name="Shape 11"/>
          <p:cNvSpPr/>
          <p:nvPr/>
        </p:nvSpPr>
        <p:spPr>
          <a:xfrm>
            <a:off x="7491055" y="1617345"/>
            <a:ext cx="6595110" cy="1954887"/>
          </a:xfrm>
          <a:prstGeom prst="roundRect">
            <a:avLst>
              <a:gd name="adj" fmla="val 2964"/>
            </a:avLst>
          </a:prstGeom>
          <a:solidFill>
            <a:srgbClr val="003180"/>
          </a:solidFill>
          <a:ln w="7620">
            <a:solidFill>
              <a:srgbClr val="194A99"/>
            </a:solidFill>
            <a:prstDash val="solid"/>
          </a:ln>
        </p:spPr>
      </p:sp>
      <p:sp>
        <p:nvSpPr>
          <p:cNvPr id="15" name="Shape 12"/>
          <p:cNvSpPr/>
          <p:nvPr/>
        </p:nvSpPr>
        <p:spPr>
          <a:xfrm>
            <a:off x="7636550" y="1762839"/>
            <a:ext cx="413861" cy="413861"/>
          </a:xfrm>
          <a:prstGeom prst="roundRect">
            <a:avLst>
              <a:gd name="adj" fmla="val 22092165"/>
            </a:avLst>
          </a:prstGeom>
          <a:solidFill>
            <a:srgbClr val="609DFF"/>
          </a:solidFill>
          <a:ln/>
        </p:spPr>
      </p:sp>
      <p:pic>
        <p:nvPicPr>
          <p:cNvPr id="16" name="Image 1" descr="preencoded.png"/>
          <p:cNvPicPr>
            <a:picLocks noChangeAspect="1"/>
          </p:cNvPicPr>
          <p:nvPr/>
        </p:nvPicPr>
        <p:blipFill>
          <a:blip r:embed="rId4"/>
          <a:stretch>
            <a:fillRect/>
          </a:stretch>
        </p:blipFill>
        <p:spPr>
          <a:xfrm>
            <a:off x="7750373" y="1853327"/>
            <a:ext cx="186214" cy="232767"/>
          </a:xfrm>
          <a:prstGeom prst="rect">
            <a:avLst/>
          </a:prstGeom>
        </p:spPr>
      </p:pic>
      <p:sp>
        <p:nvSpPr>
          <p:cNvPr id="17" name="Text 13"/>
          <p:cNvSpPr/>
          <p:nvPr/>
        </p:nvSpPr>
        <p:spPr>
          <a:xfrm>
            <a:off x="7636550" y="2314575"/>
            <a:ext cx="1724620" cy="215622"/>
          </a:xfrm>
          <a:prstGeom prst="rect">
            <a:avLst/>
          </a:prstGeom>
          <a:noFill/>
          <a:ln/>
        </p:spPr>
        <p:txBody>
          <a:bodyPr wrap="none" lIns="0" tIns="0" rIns="0" bIns="0" rtlCol="0" anchor="t"/>
          <a:lstStyle/>
          <a:p>
            <a:pPr marL="0" indent="0" algn="l">
              <a:lnSpc>
                <a:spcPts val="1650"/>
              </a:lnSpc>
              <a:buNone/>
            </a:pPr>
            <a:r>
              <a:rPr lang="en-US" sz="1350" dirty="0">
                <a:solidFill>
                  <a:srgbClr val="E2E6E9"/>
                </a:solidFill>
                <a:latin typeface="Merriweather" pitchFamily="34" charset="0"/>
                <a:ea typeface="Merriweather" pitchFamily="34" charset="-122"/>
                <a:cs typeface="Merriweather" pitchFamily="34" charset="-120"/>
              </a:rPr>
              <a:t>Polimorfismo</a:t>
            </a:r>
            <a:endParaRPr lang="en-US" sz="1350" dirty="0"/>
          </a:p>
        </p:txBody>
      </p:sp>
      <p:sp>
        <p:nvSpPr>
          <p:cNvPr id="18" name="Text 14"/>
          <p:cNvSpPr/>
          <p:nvPr/>
        </p:nvSpPr>
        <p:spPr>
          <a:xfrm>
            <a:off x="7636550" y="2668072"/>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E2E6E9"/>
                </a:solidFill>
                <a:latin typeface="Merriweather" pitchFamily="34" charset="0"/>
                <a:ea typeface="Merriweather" pitchFamily="34" charset="-122"/>
                <a:cs typeface="Merriweather" pitchFamily="34" charset="-120"/>
              </a:rPr>
              <a:t>Significa </a:t>
            </a:r>
            <a:r>
              <a:rPr lang="en-US" sz="1050" b="1" dirty="0">
                <a:solidFill>
                  <a:srgbClr val="E2E6E9"/>
                </a:solidFill>
                <a:latin typeface="Merriweather" pitchFamily="34" charset="0"/>
                <a:ea typeface="Merriweather" pitchFamily="34" charset="-122"/>
                <a:cs typeface="Merriweather" pitchFamily="34" charset="-120"/>
              </a:rPr>
              <a:t>"muchas formas"</a:t>
            </a:r>
            <a:endParaRPr lang="en-US" sz="1050" dirty="0"/>
          </a:p>
        </p:txBody>
      </p:sp>
      <p:sp>
        <p:nvSpPr>
          <p:cNvPr id="19" name="Text 15"/>
          <p:cNvSpPr/>
          <p:nvPr/>
        </p:nvSpPr>
        <p:spPr>
          <a:xfrm>
            <a:off x="7636550" y="2937034"/>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609DFF"/>
                </a:solidFill>
                <a:latin typeface="Merriweather" pitchFamily="34" charset="0"/>
                <a:ea typeface="Merriweather" pitchFamily="34" charset="-122"/>
                <a:cs typeface="Merriweather" pitchFamily="34" charset="-120"/>
              </a:rPr>
              <a:t>Distintos objetos</a:t>
            </a:r>
            <a:r>
              <a:rPr lang="en-US" sz="1050" dirty="0">
                <a:solidFill>
                  <a:srgbClr val="E2E6E9"/>
                </a:solidFill>
                <a:latin typeface="Merriweather" pitchFamily="34" charset="0"/>
                <a:ea typeface="Merriweather" pitchFamily="34" charset="-122"/>
                <a:cs typeface="Merriweather" pitchFamily="34" charset="-120"/>
              </a:rPr>
              <a:t> responden diferente al mismo mensaje</a:t>
            </a:r>
            <a:endParaRPr lang="en-US" sz="1050" dirty="0"/>
          </a:p>
        </p:txBody>
      </p:sp>
      <p:sp>
        <p:nvSpPr>
          <p:cNvPr id="20" name="Text 16"/>
          <p:cNvSpPr/>
          <p:nvPr/>
        </p:nvSpPr>
        <p:spPr>
          <a:xfrm>
            <a:off x="7636550" y="3205996"/>
            <a:ext cx="6304121" cy="220742"/>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E2E6E9"/>
                </a:solidFill>
                <a:latin typeface="Merriweather" pitchFamily="34" charset="0"/>
                <a:ea typeface="Merriweather" pitchFamily="34" charset="-122"/>
                <a:cs typeface="Merriweather" pitchFamily="34" charset="-120"/>
              </a:rPr>
              <a:t>Enfoque: </a:t>
            </a:r>
            <a:r>
              <a:rPr lang="en-US" sz="1050" i="1" dirty="0">
                <a:solidFill>
                  <a:srgbClr val="E2E6E9"/>
                </a:solidFill>
                <a:latin typeface="Merriweather" pitchFamily="34" charset="0"/>
                <a:ea typeface="Merriweather" pitchFamily="34" charset="-122"/>
                <a:cs typeface="Merriweather" pitchFamily="34" charset="-120"/>
              </a:rPr>
              <a:t>"Un método, varios comportamientos"</a:t>
            </a:r>
            <a:endParaRPr lang="en-US" sz="1050" dirty="0"/>
          </a:p>
        </p:txBody>
      </p:sp>
      <p:sp>
        <p:nvSpPr>
          <p:cNvPr id="21" name="Shape 17"/>
          <p:cNvSpPr/>
          <p:nvPr/>
        </p:nvSpPr>
        <p:spPr>
          <a:xfrm>
            <a:off x="7491055" y="3727371"/>
            <a:ext cx="6595110" cy="1972866"/>
          </a:xfrm>
          <a:prstGeom prst="roundRect">
            <a:avLst>
              <a:gd name="adj" fmla="val 2937"/>
            </a:avLst>
          </a:prstGeom>
          <a:solidFill>
            <a:srgbClr val="162227"/>
          </a:solidFill>
          <a:ln/>
        </p:spPr>
      </p:sp>
      <p:sp>
        <p:nvSpPr>
          <p:cNvPr id="22" name="Shape 18"/>
          <p:cNvSpPr/>
          <p:nvPr/>
        </p:nvSpPr>
        <p:spPr>
          <a:xfrm>
            <a:off x="7484269" y="3727371"/>
            <a:ext cx="6608683" cy="1972866"/>
          </a:xfrm>
          <a:prstGeom prst="roundRect">
            <a:avLst>
              <a:gd name="adj" fmla="val 1049"/>
            </a:avLst>
          </a:prstGeom>
          <a:solidFill>
            <a:srgbClr val="162227"/>
          </a:solidFill>
          <a:ln/>
        </p:spPr>
      </p:sp>
      <p:sp>
        <p:nvSpPr>
          <p:cNvPr id="23" name="Text 19"/>
          <p:cNvSpPr/>
          <p:nvPr/>
        </p:nvSpPr>
        <p:spPr>
          <a:xfrm>
            <a:off x="7622143" y="3830836"/>
            <a:ext cx="6332934" cy="1765935"/>
          </a:xfrm>
          <a:prstGeom prst="rect">
            <a:avLst/>
          </a:prstGeom>
          <a:noFill/>
          <a:ln/>
        </p:spPr>
        <p:txBody>
          <a:bodyPr wrap="square" lIns="0" tIns="0" rIns="0" bIns="0" rtlCol="0" anchor="t"/>
          <a:lstStyle/>
          <a:p>
            <a:pPr marL="0" indent="0" algn="l">
              <a:lnSpc>
                <a:spcPts val="1700"/>
              </a:lnSpc>
              <a:buNone/>
            </a:pPr>
            <a:r>
              <a:rPr lang="en-US" sz="1050" dirty="0">
                <a:solidFill>
                  <a:srgbClr val="E2E6E9"/>
                </a:solidFill>
                <a:highlight>
                  <a:srgbClr val="162227"/>
                </a:highlight>
                <a:latin typeface="Consolas" pitchFamily="34" charset="0"/>
                <a:ea typeface="Consolas" pitchFamily="34" charset="-122"/>
                <a:cs typeface="Consolas" pitchFamily="34" charset="-120"/>
              </a:rPr>
              <a:t>animales = [Perro(), Gato()]# Polimorfismo en acciónfor animal in animales:    print(animal.hablar())# Guau!# Miau!</a:t>
            </a:r>
            <a:endParaRPr lang="en-US" sz="1050" dirty="0"/>
          </a:p>
        </p:txBody>
      </p:sp>
      <p:sp>
        <p:nvSpPr>
          <p:cNvPr id="24" name="Shape 20"/>
          <p:cNvSpPr/>
          <p:nvPr/>
        </p:nvSpPr>
        <p:spPr>
          <a:xfrm>
            <a:off x="551855" y="6451997"/>
            <a:ext cx="13526691" cy="806768"/>
          </a:xfrm>
          <a:prstGeom prst="roundRect">
            <a:avLst>
              <a:gd name="adj" fmla="val 7183"/>
            </a:avLst>
          </a:prstGeom>
          <a:solidFill>
            <a:srgbClr val="022349"/>
          </a:solidFill>
          <a:ln/>
        </p:spPr>
      </p:sp>
      <p:pic>
        <p:nvPicPr>
          <p:cNvPr id="25" name="Image 2" descr="preencoded.png"/>
          <p:cNvPicPr>
            <a:picLocks noChangeAspect="1"/>
          </p:cNvPicPr>
          <p:nvPr/>
        </p:nvPicPr>
        <p:blipFill>
          <a:blip r:embed="rId5"/>
          <a:stretch>
            <a:fillRect/>
          </a:stretch>
        </p:blipFill>
        <p:spPr>
          <a:xfrm>
            <a:off x="689729" y="6655951"/>
            <a:ext cx="172403" cy="137874"/>
          </a:xfrm>
          <a:prstGeom prst="rect">
            <a:avLst/>
          </a:prstGeom>
        </p:spPr>
      </p:pic>
      <p:sp>
        <p:nvSpPr>
          <p:cNvPr id="26" name="Text 21"/>
          <p:cNvSpPr/>
          <p:nvPr/>
        </p:nvSpPr>
        <p:spPr>
          <a:xfrm>
            <a:off x="1000006" y="6624280"/>
            <a:ext cx="12940665" cy="441484"/>
          </a:xfrm>
          <a:prstGeom prst="rect">
            <a:avLst/>
          </a:prstGeom>
          <a:noFill/>
          <a:ln/>
        </p:spPr>
        <p:txBody>
          <a:bodyPr wrap="square" lIns="0" tIns="0" rIns="0" bIns="0" rtlCol="0" anchor="t"/>
          <a:lstStyle/>
          <a:p>
            <a:pPr marL="0" indent="0" algn="l">
              <a:lnSpc>
                <a:spcPts val="1700"/>
              </a:lnSpc>
              <a:buNone/>
            </a:pPr>
            <a:r>
              <a:rPr lang="en-US" sz="1050" b="1" dirty="0">
                <a:solidFill>
                  <a:srgbClr val="FFFFFF"/>
                </a:solidFill>
                <a:latin typeface="Merriweather" pitchFamily="34" charset="0"/>
                <a:ea typeface="Merriweather" pitchFamily="34" charset="-122"/>
                <a:cs typeface="Merriweather" pitchFamily="34" charset="-120"/>
              </a:rPr>
              <a:t>Punto Clave:</a:t>
            </a:r>
            <a:r>
              <a:rPr lang="en-US" sz="1050" dirty="0">
                <a:solidFill>
                  <a:srgbClr val="FFFFFF"/>
                </a:solidFill>
                <a:latin typeface="Merriweather" pitchFamily="34" charset="0"/>
                <a:ea typeface="Merriweather" pitchFamily="34" charset="-122"/>
                <a:cs typeface="Merriweather" pitchFamily="34" charset="-120"/>
              </a:rPr>
              <a:t> El polimorfismo se logra gracias a la sobreescritura + herencia. La sobreescritura es la técnica, el polimorfismo es el resultado que permite tratar objetos diferentes de manera uniforme.</a:t>
            </a:r>
            <a:endParaRPr lang="en-US" sz="1050" dirty="0"/>
          </a:p>
        </p:txBody>
      </p:sp>
      <p:sp>
        <p:nvSpPr>
          <p:cNvPr id="27" name="Text 22"/>
          <p:cNvSpPr/>
          <p:nvPr/>
        </p:nvSpPr>
        <p:spPr>
          <a:xfrm>
            <a:off x="551855" y="7413903"/>
            <a:ext cx="13526691" cy="441484"/>
          </a:xfrm>
          <a:prstGeom prst="rect">
            <a:avLst/>
          </a:prstGeom>
          <a:noFill/>
          <a:ln/>
        </p:spPr>
        <p:txBody>
          <a:bodyPr wrap="square" lIns="0" tIns="0" rIns="0" bIns="0" rtlCol="0" anchor="t"/>
          <a:lstStyle/>
          <a:p>
            <a:pPr marL="0" indent="0" algn="l">
              <a:lnSpc>
                <a:spcPts val="1700"/>
              </a:lnSpc>
              <a:buNone/>
            </a:pPr>
            <a:r>
              <a:rPr lang="en-US" sz="1050" dirty="0">
                <a:solidFill>
                  <a:srgbClr val="E2E6E9"/>
                </a:solidFill>
                <a:latin typeface="Merriweather" pitchFamily="34" charset="0"/>
                <a:ea typeface="Merriweather" pitchFamily="34" charset="-122"/>
                <a:cs typeface="Merriweather" pitchFamily="34" charset="-120"/>
              </a:rPr>
              <a:t>En resumen, la sobreescritura es el mecanismo técnico que permite redefinir métodos, mientras que el polimorfismo es el concepto más amplio que describe cómo diferentes objetos pueden responder de manera específica a la misma interfaz común.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678</Words>
  <Application>Microsoft Office PowerPoint</Application>
  <PresentationFormat>Custom</PresentationFormat>
  <Paragraphs>59</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Merriweather</vt:lpstr>
      <vt:lpstr>Consolas</vt:lpstr>
      <vt:lpstr>Calibri</vt:lpstr>
      <vt:lpstr>Arial</vt:lpstr>
      <vt:lpstr>Calibri (Cuerpo)</vt:lpstr>
      <vt:lpstr>Merriweather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word</cp:lastModifiedBy>
  <cp:revision>5</cp:revision>
  <dcterms:created xsi:type="dcterms:W3CDTF">2025-09-12T14:00:42Z</dcterms:created>
  <dcterms:modified xsi:type="dcterms:W3CDTF">2025-09-24T14:16:55Z</dcterms:modified>
</cp:coreProperties>
</file>